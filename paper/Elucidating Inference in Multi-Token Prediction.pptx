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8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1.xml" ContentType="application/vnd.openxmlformats-officedocument.drawingml.chart+xml"/>
  <Override PartName="/ppt/notesSlides/notesSlide23.xml" ContentType="application/vnd.openxmlformats-officedocument.presentationml.notesSlide+xml"/>
  <Override PartName="/ppt/charts/chart1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7" r:id="rId6"/>
    <p:sldId id="260" r:id="rId7"/>
    <p:sldId id="262" r:id="rId8"/>
    <p:sldId id="263" r:id="rId9"/>
    <p:sldId id="264" r:id="rId10"/>
    <p:sldId id="265" r:id="rId11"/>
    <p:sldId id="272" r:id="rId12"/>
    <p:sldId id="283" r:id="rId13"/>
    <p:sldId id="274" r:id="rId14"/>
    <p:sldId id="273" r:id="rId15"/>
    <p:sldId id="280" r:id="rId16"/>
    <p:sldId id="279" r:id="rId17"/>
    <p:sldId id="282" r:id="rId18"/>
    <p:sldId id="275" r:id="rId19"/>
    <p:sldId id="286" r:id="rId20"/>
    <p:sldId id="284" r:id="rId21"/>
    <p:sldId id="285" r:id="rId22"/>
    <p:sldId id="287" r:id="rId23"/>
    <p:sldId id="288" r:id="rId24"/>
    <p:sldId id="289" r:id="rId25"/>
    <p:sldId id="29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0F9ED6"/>
    <a:srgbClr val="D76ECB"/>
    <a:srgbClr val="FF5C5D"/>
    <a:srgbClr val="A02B93"/>
    <a:srgbClr val="8A90A6"/>
    <a:srgbClr val="7F7F7F"/>
    <a:srgbClr val="1F4D90"/>
    <a:srgbClr val="4DBB5F"/>
    <a:srgbClr val="85C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E9713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E3-41CB-8EB6-4A3371AA31E2}"/>
              </c:ext>
            </c:extLst>
          </c:dPt>
          <c:dPt>
            <c:idx val="1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E3-41CB-8EB6-4A3371AA31E2}"/>
              </c:ext>
            </c:extLst>
          </c:dPt>
          <c:dPt>
            <c:idx val="2"/>
            <c:invertIfNegative val="0"/>
            <c:bubble3D val="0"/>
            <c:spPr>
              <a:solidFill>
                <a:srgbClr val="D76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E3-41CB-8EB6-4A3371AA31E2}"/>
              </c:ext>
            </c:extLst>
          </c:dPt>
          <c:dPt>
            <c:idx val="3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E3-41CB-8EB6-4A3371AA31E2}"/>
              </c:ext>
            </c:extLst>
          </c:dPt>
          <c:dPt>
            <c:idx val="4"/>
            <c:invertIfNegative val="0"/>
            <c:bubble3D val="0"/>
            <c:spPr>
              <a:solidFill>
                <a:srgbClr val="D76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E3-41CB-8EB6-4A3371AA31E2}"/>
              </c:ext>
            </c:extLst>
          </c:dPt>
          <c:dPt>
            <c:idx val="5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3E3-41CB-8EB6-4A3371AA31E2}"/>
              </c:ext>
            </c:extLst>
          </c:dPt>
          <c:dPt>
            <c:idx val="6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3E3-41CB-8EB6-4A3371AA31E2}"/>
              </c:ext>
            </c:extLst>
          </c:dPt>
          <c:dPt>
            <c:idx val="7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3E3-41CB-8EB6-4A3371AA31E2}"/>
              </c:ext>
            </c:extLst>
          </c:dPt>
          <c:dPt>
            <c:idx val="8"/>
            <c:invertIfNegative val="0"/>
            <c:bubble3D val="0"/>
            <c:spPr>
              <a:solidFill>
                <a:srgbClr val="A02B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3E3-41CB-8EB6-4A3371AA31E2}"/>
              </c:ext>
            </c:extLst>
          </c:dPt>
          <c:dPt>
            <c:idx val="9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3E3-41CB-8EB6-4A3371AA31E2}"/>
              </c:ext>
            </c:extLst>
          </c:dPt>
          <c:dPt>
            <c:idx val="10"/>
            <c:invertIfNegative val="0"/>
            <c:bubble3D val="0"/>
            <c:spPr>
              <a:solidFill>
                <a:srgbClr val="A02B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93E3-41CB-8EB6-4A3371AA31E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PTP</c:v>
                </c:pt>
                <c:pt idx="1">
                  <c:v>SAMD</c:v>
                </c:pt>
                <c:pt idx="2">
                  <c:v>Eagle-2</c:v>
                </c:pt>
                <c:pt idx="3">
                  <c:v>Hydra</c:v>
                </c:pt>
                <c:pt idx="4">
                  <c:v>Eagle</c:v>
                </c:pt>
                <c:pt idx="5">
                  <c:v>Recycling</c:v>
                </c:pt>
                <c:pt idx="6">
                  <c:v>Medusa</c:v>
                </c:pt>
                <c:pt idx="7">
                  <c:v>PLD</c:v>
                </c:pt>
                <c:pt idx="8">
                  <c:v>SpS</c:v>
                </c:pt>
                <c:pt idx="9">
                  <c:v>Lookahead</c:v>
                </c:pt>
                <c:pt idx="10">
                  <c:v>AR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2.4</c:v>
                </c:pt>
                <c:pt idx="1">
                  <c:v>2.2999999999999998</c:v>
                </c:pt>
                <c:pt idx="2">
                  <c:v>2.2999999999999998</c:v>
                </c:pt>
                <c:pt idx="3">
                  <c:v>2.2000000000000002</c:v>
                </c:pt>
                <c:pt idx="4">
                  <c:v>2.2000000000000002</c:v>
                </c:pt>
                <c:pt idx="5">
                  <c:v>1.9</c:v>
                </c:pt>
                <c:pt idx="6">
                  <c:v>1.8</c:v>
                </c:pt>
                <c:pt idx="7">
                  <c:v>1.6</c:v>
                </c:pt>
                <c:pt idx="8">
                  <c:v>1.4</c:v>
                </c:pt>
                <c:pt idx="9">
                  <c:v>1.3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93E3-41CB-8EB6-4A3371AA31E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0" vert="horz"/>
          <a:lstStyle/>
          <a:p>
            <a:pPr>
              <a:defRPr sz="11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per call</c:v>
                </c:pt>
              </c:strCache>
            </c:strRef>
          </c:tx>
          <c:spPr>
            <a:solidFill>
              <a:srgbClr val="E9713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64-469A-B287-916AC22BCEC6}"/>
              </c:ext>
            </c:extLst>
          </c:dPt>
          <c:dPt>
            <c:idx val="1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64-469A-B287-916AC22BCEC6}"/>
              </c:ext>
            </c:extLst>
          </c:dPt>
          <c:dPt>
            <c:idx val="2"/>
            <c:invertIfNegative val="0"/>
            <c:bubble3D val="0"/>
            <c:spPr>
              <a:solidFill>
                <a:srgbClr val="D76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64-469A-B287-916AC22BCEC6}"/>
              </c:ext>
            </c:extLst>
          </c:dPt>
          <c:dPt>
            <c:idx val="3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64-469A-B287-916AC22BCEC6}"/>
              </c:ext>
            </c:extLst>
          </c:dPt>
          <c:dPt>
            <c:idx val="4"/>
            <c:invertIfNegative val="0"/>
            <c:bubble3D val="0"/>
            <c:spPr>
              <a:solidFill>
                <a:srgbClr val="D76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64-469A-B287-916AC22BCEC6}"/>
              </c:ext>
            </c:extLst>
          </c:dPt>
          <c:dPt>
            <c:idx val="5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264-469A-B287-916AC22BCEC6}"/>
              </c:ext>
            </c:extLst>
          </c:dPt>
          <c:dPt>
            <c:idx val="6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264-469A-B287-916AC22BCEC6}"/>
              </c:ext>
            </c:extLst>
          </c:dPt>
          <c:dPt>
            <c:idx val="7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264-469A-B287-916AC22BCEC6}"/>
              </c:ext>
            </c:extLst>
          </c:dPt>
          <c:dPt>
            <c:idx val="8"/>
            <c:invertIfNegative val="0"/>
            <c:bubble3D val="0"/>
            <c:spPr>
              <a:solidFill>
                <a:srgbClr val="A02B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264-469A-B287-916AC22BCEC6}"/>
              </c:ext>
            </c:extLst>
          </c:dPt>
          <c:dPt>
            <c:idx val="9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264-469A-B287-916AC22BCEC6}"/>
              </c:ext>
            </c:extLst>
          </c:dPt>
          <c:dPt>
            <c:idx val="10"/>
            <c:invertIfNegative val="0"/>
            <c:bubble3D val="0"/>
            <c:spPr>
              <a:solidFill>
                <a:srgbClr val="A02B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E264-469A-B287-916AC22BCEC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PTP</c:v>
                </c:pt>
                <c:pt idx="1">
                  <c:v>SAMD</c:v>
                </c:pt>
                <c:pt idx="2">
                  <c:v>Eagle-2</c:v>
                </c:pt>
                <c:pt idx="3">
                  <c:v>Hydra</c:v>
                </c:pt>
                <c:pt idx="4">
                  <c:v>Eagle</c:v>
                </c:pt>
                <c:pt idx="5">
                  <c:v>Recycling</c:v>
                </c:pt>
                <c:pt idx="6">
                  <c:v>Medusa</c:v>
                </c:pt>
                <c:pt idx="7">
                  <c:v>PLD</c:v>
                </c:pt>
                <c:pt idx="8">
                  <c:v>SpS</c:v>
                </c:pt>
                <c:pt idx="9">
                  <c:v>Lookahead</c:v>
                </c:pt>
                <c:pt idx="10">
                  <c:v>AR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4.21</c:v>
                </c:pt>
                <c:pt idx="1">
                  <c:v>3.95</c:v>
                </c:pt>
                <c:pt idx="2">
                  <c:v>3.93</c:v>
                </c:pt>
                <c:pt idx="3">
                  <c:v>3.4</c:v>
                </c:pt>
                <c:pt idx="4">
                  <c:v>3.24</c:v>
                </c:pt>
                <c:pt idx="5">
                  <c:v>2.7</c:v>
                </c:pt>
                <c:pt idx="6">
                  <c:v>2.38</c:v>
                </c:pt>
                <c:pt idx="7">
                  <c:v>1.93</c:v>
                </c:pt>
                <c:pt idx="8">
                  <c:v>1.73</c:v>
                </c:pt>
                <c:pt idx="9">
                  <c:v>1.57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E264-469A-B287-916AC22BCEC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0" vert="horz"/>
          <a:lstStyle/>
          <a:p>
            <a:pPr>
              <a:defRPr sz="11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8A90A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18-4363-81C0-FF40A186C694}"/>
              </c:ext>
            </c:extLst>
          </c:dPt>
          <c:dPt>
            <c:idx val="1"/>
            <c:invertIfNegative val="0"/>
            <c:bubble3D val="0"/>
            <c:spPr>
              <a:solidFill>
                <a:srgbClr val="8A90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18-4363-81C0-FF40A186C69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318-4363-81C0-FF40A186C69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318-4363-81C0-FF40A186C69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3318-4363-81C0-FF40A186C69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318-4363-81C0-FF40A186C694}"/>
              </c:ext>
            </c:extLst>
          </c:dPt>
          <c:dLbls>
            <c:dLbl>
              <c:idx val="1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318-4363-81C0-FF40A186C694}"/>
                </c:ext>
              </c:extLst>
            </c:dLbl>
            <c:dLbl>
              <c:idx val="2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3318-4363-81C0-FF40A186C694}"/>
                </c:ext>
              </c:extLst>
            </c:dLbl>
            <c:dLbl>
              <c:idx val="3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318-4363-81C0-FF40A186C694}"/>
                </c:ext>
              </c:extLst>
            </c:dLbl>
            <c:dLbl>
              <c:idx val="4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3318-4363-81C0-FF40A186C694}"/>
                </c:ext>
              </c:extLst>
            </c:dLbl>
            <c:dLbl>
              <c:idx val="5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3318-4363-81C0-FF40A186C694}"/>
                </c:ext>
              </c:extLst>
            </c:dLbl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PTP</c:v>
                </c:pt>
                <c:pt idx="1">
                  <c:v>?</c:v>
                </c:pt>
                <c:pt idx="2">
                  <c:v>?</c:v>
                </c:pt>
                <c:pt idx="3">
                  <c:v>?</c:v>
                </c:pt>
                <c:pt idx="4">
                  <c:v>?</c:v>
                </c:pt>
                <c:pt idx="5">
                  <c:v>?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3.63</c:v>
                </c:pt>
                <c:pt idx="1">
                  <c:v>4.29</c:v>
                </c:pt>
                <c:pt idx="2">
                  <c:v>4.74</c:v>
                </c:pt>
                <c:pt idx="3">
                  <c:v>4.91</c:v>
                </c:pt>
                <c:pt idx="4">
                  <c:v>5.98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18-4363-81C0-FF40A186C6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8A90A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E7-4EA3-83CE-45F55F85A537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E7-4EA3-83CE-45F55F85A5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0E7-4EA3-83CE-45F55F85A53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0E7-4EA3-83CE-45F55F85A53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0E7-4EA3-83CE-45F55F85A53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0E7-4EA3-83CE-45F55F85A537}"/>
              </c:ext>
            </c:extLst>
          </c:dPt>
          <c:dLbls>
            <c:dLbl>
              <c:idx val="2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0E7-4EA3-83CE-45F55F85A537}"/>
                </c:ext>
              </c:extLst>
            </c:dLbl>
            <c:dLbl>
              <c:idx val="3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0E7-4EA3-83CE-45F55F85A537}"/>
                </c:ext>
              </c:extLst>
            </c:dLbl>
            <c:dLbl>
              <c:idx val="4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80E7-4EA3-83CE-45F55F85A537}"/>
                </c:ext>
              </c:extLst>
            </c:dLbl>
            <c:dLbl>
              <c:idx val="5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80E7-4EA3-83CE-45F55F85A537}"/>
                </c:ext>
              </c:extLst>
            </c:dLbl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PTP</c:v>
                </c:pt>
                <c:pt idx="1">
                  <c:v>+ top-p</c:v>
                </c:pt>
                <c:pt idx="2">
                  <c:v>?</c:v>
                </c:pt>
                <c:pt idx="3">
                  <c:v>?</c:v>
                </c:pt>
                <c:pt idx="4">
                  <c:v>?</c:v>
                </c:pt>
                <c:pt idx="5">
                  <c:v>?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3.63</c:v>
                </c:pt>
                <c:pt idx="1">
                  <c:v>4.29</c:v>
                </c:pt>
                <c:pt idx="2">
                  <c:v>4.74</c:v>
                </c:pt>
                <c:pt idx="3">
                  <c:v>4.91</c:v>
                </c:pt>
                <c:pt idx="4">
                  <c:v>5.98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E7-4EA3-83CE-45F55F85A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8A90A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E7-4EA3-83CE-45F55F85A537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E7-4EA3-83CE-45F55F85A537}"/>
              </c:ext>
            </c:extLst>
          </c:dPt>
          <c:dPt>
            <c:idx val="2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E7-4EA3-83CE-45F55F85A53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0E7-4EA3-83CE-45F55F85A53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0E7-4EA3-83CE-45F55F85A53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0E7-4EA3-83CE-45F55F85A537}"/>
              </c:ext>
            </c:extLst>
          </c:dPt>
          <c:dLbls>
            <c:dLbl>
              <c:idx val="3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0E7-4EA3-83CE-45F55F85A537}"/>
                </c:ext>
              </c:extLst>
            </c:dLbl>
            <c:dLbl>
              <c:idx val="4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80E7-4EA3-83CE-45F55F85A537}"/>
                </c:ext>
              </c:extLst>
            </c:dLbl>
            <c:dLbl>
              <c:idx val="5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80E7-4EA3-83CE-45F55F85A537}"/>
                </c:ext>
              </c:extLst>
            </c:dLbl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PTP</c:v>
                </c:pt>
                <c:pt idx="1">
                  <c:v>+ top-p</c:v>
                </c:pt>
                <c:pt idx="2">
                  <c:v>+ best of 50</c:v>
                </c:pt>
                <c:pt idx="3">
                  <c:v>?</c:v>
                </c:pt>
                <c:pt idx="4">
                  <c:v>?</c:v>
                </c:pt>
                <c:pt idx="5">
                  <c:v>?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3.63</c:v>
                </c:pt>
                <c:pt idx="1">
                  <c:v>4.29</c:v>
                </c:pt>
                <c:pt idx="2">
                  <c:v>4.74</c:v>
                </c:pt>
                <c:pt idx="3">
                  <c:v>4.91</c:v>
                </c:pt>
                <c:pt idx="4">
                  <c:v>5.98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E7-4EA3-83CE-45F55F85A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Sheet1!$B$3:$B$23</c:f>
              <c:numCache>
                <c:formatCode>General</c:formatCode>
                <c:ptCount val="21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C6DA-4468-9EC1-33470AE80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5923504"/>
        <c:axId val="1592891824"/>
      </c:lineChart>
      <c:catAx>
        <c:axId val="21592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2891824"/>
        <c:crosses val="autoZero"/>
        <c:auto val="0"/>
        <c:lblAlgn val="ctr"/>
        <c:lblOffset val="0"/>
        <c:tickLblSkip val="10"/>
        <c:noMultiLvlLbl val="0"/>
      </c:catAx>
      <c:valAx>
        <c:axId val="1592891824"/>
        <c:scaling>
          <c:orientation val="minMax"/>
          <c:max val="6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592350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Sheet1!$B$3:$B$23</c:f>
              <c:numCache>
                <c:formatCode>General</c:formatCode>
                <c:ptCount val="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B748-413D-A581-9D3B32D55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5923504"/>
        <c:axId val="1592891824"/>
      </c:lineChart>
      <c:catAx>
        <c:axId val="21592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2891824"/>
        <c:crosses val="autoZero"/>
        <c:auto val="0"/>
        <c:lblAlgn val="ctr"/>
        <c:lblOffset val="0"/>
        <c:tickLblSkip val="10"/>
        <c:noMultiLvlLbl val="0"/>
      </c:catAx>
      <c:valAx>
        <c:axId val="1592891824"/>
        <c:scaling>
          <c:orientation val="minMax"/>
          <c:max val="13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59235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Sheet1!$B$3:$B$23</c:f>
              <c:numCache>
                <c:formatCode>General</c:formatCode>
                <c:ptCount val="21"/>
                <c:pt idx="0">
                  <c:v>140</c:v>
                </c:pt>
                <c:pt idx="1">
                  <c:v>140</c:v>
                </c:pt>
                <c:pt idx="2">
                  <c:v>140</c:v>
                </c:pt>
                <c:pt idx="3">
                  <c:v>140</c:v>
                </c:pt>
                <c:pt idx="4">
                  <c:v>140</c:v>
                </c:pt>
                <c:pt idx="5">
                  <c:v>140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0700-42DC-8CF1-67525AF67F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5923504"/>
        <c:axId val="1592891824"/>
      </c:lineChart>
      <c:catAx>
        <c:axId val="21592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2891824"/>
        <c:crosses val="autoZero"/>
        <c:auto val="0"/>
        <c:lblAlgn val="ctr"/>
        <c:lblOffset val="0"/>
        <c:tickLblSkip val="10"/>
        <c:noMultiLvlLbl val="0"/>
      </c:catAx>
      <c:valAx>
        <c:axId val="1592891824"/>
        <c:scaling>
          <c:orientation val="minMax"/>
          <c:max val="16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5923504"/>
        <c:crosses val="autoZero"/>
        <c:crossBetween val="between"/>
        <c:majorUnit val="14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8A90A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E7-4EA3-83CE-45F55F85A537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E7-4EA3-83CE-45F55F85A537}"/>
              </c:ext>
            </c:extLst>
          </c:dPt>
          <c:dPt>
            <c:idx val="2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E7-4EA3-83CE-45F55F85A537}"/>
              </c:ext>
            </c:extLst>
          </c:dPt>
          <c:dPt>
            <c:idx val="3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E7-4EA3-83CE-45F55F85A53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0E7-4EA3-83CE-45F55F85A53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0E7-4EA3-83CE-45F55F85A537}"/>
              </c:ext>
            </c:extLst>
          </c:dPt>
          <c:dLbls>
            <c:dLbl>
              <c:idx val="4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80E7-4EA3-83CE-45F55F85A537}"/>
                </c:ext>
              </c:extLst>
            </c:dLbl>
            <c:dLbl>
              <c:idx val="5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80E7-4EA3-83CE-45F55F85A537}"/>
                </c:ext>
              </c:extLst>
            </c:dLbl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PTP</c:v>
                </c:pt>
                <c:pt idx="1">
                  <c:v>+ top-p</c:v>
                </c:pt>
                <c:pt idx="2">
                  <c:v>+ best of 50</c:v>
                </c:pt>
                <c:pt idx="3">
                  <c:v>+ node allocation</c:v>
                </c:pt>
                <c:pt idx="4">
                  <c:v>?</c:v>
                </c:pt>
                <c:pt idx="5">
                  <c:v>?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3.63</c:v>
                </c:pt>
                <c:pt idx="1">
                  <c:v>4.29</c:v>
                </c:pt>
                <c:pt idx="2">
                  <c:v>4.74</c:v>
                </c:pt>
                <c:pt idx="3">
                  <c:v>4.91</c:v>
                </c:pt>
                <c:pt idx="4">
                  <c:v>5.98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E7-4EA3-83CE-45F55F85A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E7-4EA3-83CE-45F55F85A537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E7-4EA3-83CE-45F55F85A537}"/>
              </c:ext>
            </c:extLst>
          </c:dPt>
          <c:dPt>
            <c:idx val="2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E7-4EA3-83CE-45F55F85A537}"/>
              </c:ext>
            </c:extLst>
          </c:dPt>
          <c:dPt>
            <c:idx val="3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E7-4EA3-83CE-45F55F85A53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0E7-4EA3-83CE-45F55F85A537}"/>
              </c:ext>
            </c:extLst>
          </c:dPt>
          <c:dPt>
            <c:idx val="5"/>
            <c:invertIfNegative val="0"/>
            <c:bubble3D val="0"/>
            <c:spPr>
              <a:solidFill>
                <a:srgbClr val="8A90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0E7-4EA3-83CE-45F55F85A537}"/>
              </c:ext>
            </c:extLst>
          </c:dPt>
          <c:dLbls>
            <c:dLbl>
              <c:idx val="5"/>
              <c:numFmt formatCode="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solidFill>
                        <a:srgbClr val="8A90A6"/>
                      </a:solidFill>
                      <a:latin typeface="Calibri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80E7-4EA3-83CE-45F55F85A537}"/>
                </c:ext>
              </c:extLst>
            </c:dLbl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PTP</c:v>
                </c:pt>
                <c:pt idx="1">
                  <c:v>+ top-p</c:v>
                </c:pt>
                <c:pt idx="2">
                  <c:v>+ best of 50</c:v>
                </c:pt>
                <c:pt idx="3">
                  <c:v>+ node allocation</c:v>
                </c:pt>
                <c:pt idx="4">
                  <c:v>+ self verify</c:v>
                </c:pt>
                <c:pt idx="5">
                  <c:v>?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3.63</c:v>
                </c:pt>
                <c:pt idx="1">
                  <c:v>4.29</c:v>
                </c:pt>
                <c:pt idx="2">
                  <c:v>4.74</c:v>
                </c:pt>
                <c:pt idx="3">
                  <c:v>4.91</c:v>
                </c:pt>
                <c:pt idx="4">
                  <c:v>5.98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E7-4EA3-83CE-45F55F85A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8A90A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E7-4EA3-83CE-45F55F85A537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E7-4EA3-83CE-45F55F85A537}"/>
              </c:ext>
            </c:extLst>
          </c:dPt>
          <c:dPt>
            <c:idx val="2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E7-4EA3-83CE-45F55F85A537}"/>
              </c:ext>
            </c:extLst>
          </c:dPt>
          <c:dPt>
            <c:idx val="3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E7-4EA3-83CE-45F55F85A537}"/>
              </c:ext>
            </c:extLst>
          </c:dPt>
          <c:dPt>
            <c:idx val="4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E7-4EA3-83CE-45F55F85A537}"/>
              </c:ext>
            </c:extLst>
          </c:dPt>
          <c:dPt>
            <c:idx val="5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0E7-4EA3-83CE-45F55F85A537}"/>
              </c:ext>
            </c:extLst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~8.5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0E7-4EA3-83CE-45F55F85A537}"/>
                </c:ext>
              </c:extLst>
            </c:dLbl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PTP</c:v>
                </c:pt>
                <c:pt idx="1">
                  <c:v>+ top-p</c:v>
                </c:pt>
                <c:pt idx="2">
                  <c:v>+ best of 50</c:v>
                </c:pt>
                <c:pt idx="3">
                  <c:v>+ node allocation</c:v>
                </c:pt>
                <c:pt idx="4">
                  <c:v>+ self verify</c:v>
                </c:pt>
                <c:pt idx="5">
                  <c:v>+ parallelization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3.63</c:v>
                </c:pt>
                <c:pt idx="1">
                  <c:v>4.29</c:v>
                </c:pt>
                <c:pt idx="2">
                  <c:v>4.74</c:v>
                </c:pt>
                <c:pt idx="3">
                  <c:v>4.91</c:v>
                </c:pt>
                <c:pt idx="4">
                  <c:v>5.98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E7-4EA3-83CE-45F55F85A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per call</c:v>
                </c:pt>
              </c:strCache>
            </c:strRef>
          </c:tx>
          <c:spPr>
            <a:solidFill>
              <a:srgbClr val="E9713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64-469A-B287-916AC22BCEC6}"/>
              </c:ext>
            </c:extLst>
          </c:dPt>
          <c:dPt>
            <c:idx val="1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64-469A-B287-916AC22BCEC6}"/>
              </c:ext>
            </c:extLst>
          </c:dPt>
          <c:dPt>
            <c:idx val="2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64-469A-B287-916AC22BCEC6}"/>
              </c:ext>
            </c:extLst>
          </c:dPt>
          <c:dPt>
            <c:idx val="3"/>
            <c:invertIfNegative val="0"/>
            <c:bubble3D val="0"/>
            <c:spPr>
              <a:solidFill>
                <a:srgbClr val="D76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64-469A-B287-916AC22BCEC6}"/>
              </c:ext>
            </c:extLst>
          </c:dPt>
          <c:dPt>
            <c:idx val="4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64-469A-B287-916AC22BCEC6}"/>
              </c:ext>
            </c:extLst>
          </c:dPt>
          <c:dPt>
            <c:idx val="5"/>
            <c:invertIfNegative val="0"/>
            <c:bubble3D val="0"/>
            <c:spPr>
              <a:solidFill>
                <a:srgbClr val="D76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264-469A-B287-916AC22BCEC6}"/>
              </c:ext>
            </c:extLst>
          </c:dPt>
          <c:dPt>
            <c:idx val="6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264-469A-B287-916AC22BCEC6}"/>
              </c:ext>
            </c:extLst>
          </c:dPt>
          <c:dPt>
            <c:idx val="7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264-469A-B287-916AC22BCEC6}"/>
              </c:ext>
            </c:extLst>
          </c:dPt>
          <c:dPt>
            <c:idx val="8"/>
            <c:invertIfNegative val="0"/>
            <c:bubble3D val="0"/>
            <c:spPr>
              <a:solidFill>
                <a:srgbClr val="0F9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264-469A-B287-916AC22BCEC6}"/>
              </c:ext>
            </c:extLst>
          </c:dPt>
          <c:dPt>
            <c:idx val="9"/>
            <c:invertIfNegative val="0"/>
            <c:bubble3D val="0"/>
            <c:spPr>
              <a:solidFill>
                <a:srgbClr val="A02B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264-469A-B287-916AC22BCEC6}"/>
              </c:ext>
            </c:extLst>
          </c:dPt>
          <c:dPt>
            <c:idx val="10"/>
            <c:invertIfNegative val="0"/>
            <c:bubble3D val="0"/>
            <c:spPr>
              <a:solidFill>
                <a:srgbClr val="FF5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E264-469A-B287-916AC22BCEC6}"/>
              </c:ext>
            </c:extLst>
          </c:dPt>
          <c:dPt>
            <c:idx val="11"/>
            <c:invertIfNegative val="0"/>
            <c:bubble3D val="0"/>
            <c:spPr>
              <a:solidFill>
                <a:srgbClr val="A02B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6-7554-4129-A5F9-125F3EAC426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~</a:t>
                    </a:r>
                    <a:fld id="{2151D845-A8D4-4B59-A5A8-325F619BA6E6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264-469A-B287-916AC22BCEC6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PTPv2</c:v>
                </c:pt>
                <c:pt idx="1">
                  <c:v>PTP</c:v>
                </c:pt>
                <c:pt idx="2">
                  <c:v>SAMD</c:v>
                </c:pt>
                <c:pt idx="3">
                  <c:v>Eagle-2</c:v>
                </c:pt>
                <c:pt idx="4">
                  <c:v>Hydra</c:v>
                </c:pt>
                <c:pt idx="5">
                  <c:v>Eagle</c:v>
                </c:pt>
                <c:pt idx="6">
                  <c:v>Recycling</c:v>
                </c:pt>
                <c:pt idx="7">
                  <c:v>Medusa</c:v>
                </c:pt>
                <c:pt idx="8">
                  <c:v>PLD</c:v>
                </c:pt>
                <c:pt idx="9">
                  <c:v>SpS</c:v>
                </c:pt>
                <c:pt idx="10">
                  <c:v>Lookahead</c:v>
                </c:pt>
                <c:pt idx="11">
                  <c:v>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8.5</c:v>
                </c:pt>
                <c:pt idx="1">
                  <c:v>4.21</c:v>
                </c:pt>
                <c:pt idx="2">
                  <c:v>3.95</c:v>
                </c:pt>
                <c:pt idx="3">
                  <c:v>3.93</c:v>
                </c:pt>
                <c:pt idx="4">
                  <c:v>3.4</c:v>
                </c:pt>
                <c:pt idx="5">
                  <c:v>3.24</c:v>
                </c:pt>
                <c:pt idx="6">
                  <c:v>2.7</c:v>
                </c:pt>
                <c:pt idx="7">
                  <c:v>2.38</c:v>
                </c:pt>
                <c:pt idx="8">
                  <c:v>1.93</c:v>
                </c:pt>
                <c:pt idx="9">
                  <c:v>1.73</c:v>
                </c:pt>
                <c:pt idx="10">
                  <c:v>1.57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E264-469A-B287-916AC22BCEC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0" vert="horz"/>
          <a:lstStyle/>
          <a:p>
            <a:pPr>
              <a:defRPr sz="1100" b="0" i="0" u="none" strike="noStrike">
                <a:solidFill>
                  <a:srgbClr val="3A3D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12700" cap="flat">
              <a:solidFill>
                <a:srgbClr val="E7E8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23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0521-17EE-2ACF-9FA5-D2E5A462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C4F65-6ADE-8FB4-6689-005A5CAE1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DB662-0624-9C04-E878-A8BC3628E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DC895-8005-A7A0-F8B4-658378437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58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8A85-549F-8223-9501-2ADF6C42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331B6-FAD0-56F8-9E06-249D4468A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83F71-9C57-3407-63A5-0D4E86372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BD057-BAB4-F70D-AB16-6C91BE97E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5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6126-55A7-6AB8-C5DF-A7A26EF8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7C1E8-41E3-003C-83EE-AAA5F2F78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C2D35-08AD-6945-C464-6E8DCF114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39F3-4286-025B-F2E3-965077202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59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9D5B-9428-0ADB-98B9-E817EFED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8590E-31CD-80CA-0466-A0CADF324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AF2DA-DE59-0D66-C2A4-2EB17B155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D7FA0-9D01-6C04-ECA9-B5E39E552D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25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51A2B-3397-F2E7-CBB2-D0ABF66F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F9DA4-5CD8-5D66-F5D1-70393A212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33425-24EE-AF25-B127-E59F1CDF1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BBFA4-A062-E3C5-8315-B25215EF3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20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8B09-1FA6-88B6-59A5-13B07D9F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3381E-7F36-1BA9-E9D3-D1DD34972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89494-5203-0B7B-2BCF-FB10BEFA7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30FC1-F6C8-7E85-3C7D-99C1E97C2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33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1DDC-568F-A189-1B2A-647AE63D1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DAF9E-3878-FB0C-E80B-4A93E6D62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24974-2C08-D745-30F5-65DA12A39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50A47-98CE-E1AC-5D43-82CA2E13FD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74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2950B-F813-CF98-8CD0-67178CBC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69637-F48A-9313-1A20-F2EFE3548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D03A0-800F-6E59-8AEC-B03BDAF27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CBCE8-C243-6ED2-0C80-F19B0AEEA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322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0651-EACE-C72D-9B61-60C7C035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962F4-3A2A-6B88-A8DB-4971B9CDF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AA1DF-EDA8-79E6-D8DD-154BBC8CB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27ED0-28D6-42A8-C9CB-EC2A6F01E1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6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353B3-CC01-B1DC-6255-454E179D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3AC7F-6F0B-E323-AAFC-0ED9A1019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2F66A-E82D-9399-8495-2BFE9BC1C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158D0-5EC3-8994-812B-2D9663774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851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E932-D35A-21F2-7A38-8EF356F8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C63FA-8FF6-2FF5-1AB2-FBBD1C584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91530-D655-D051-85D9-99961E9DE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B779-E183-D491-8362-CF5A0FE1E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96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64DA-A0EE-8DCC-6455-5C612AA0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ADB90-29F2-4BE4-3CF2-ABC53701B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CA642-71A4-2362-BEFE-7EB6B15A4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46BD4-7BBE-ABF3-12B8-86EE4751C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86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C351-BFE0-5D24-01FF-FC42DB55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A8339-10BC-8AAF-087A-7CF26BA6A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5B894-A7A5-42EB-473B-23352FCAA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71E8D-567D-8FAD-516B-1DF030C86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379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4E229-A01E-E353-A6E7-1C8BD0F1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785FD-25C1-24DF-FF62-DA1BA7165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9F7B4-E2F7-EBE2-B09F-EF7E7CF82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F30D2-E6A5-639B-67A6-E2A37CA20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508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2CAF-87E0-1C24-F630-6BF42943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0A5F5-CAC3-FB99-B341-A2CFE24FD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0D400-461B-AA40-FEBC-A28F2B8F7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F3B09-9C53-111D-12DA-6177135B16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331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FE13-723A-8DA0-6D61-21C63717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26AD7-94B3-6832-689A-69DDA9B37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57B50-4B55-1C3C-92CE-5C19C7539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86D9B-7964-3C8A-A61C-84011CBA1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7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868680"/>
            <a:ext cx="384048" cy="384048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4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MULTI-TOKEN PREDICTION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7824" y="26974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Elucidating Inference in</a:t>
            </a:r>
            <a:endParaRPr lang="en-US" sz="5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Multi-Token Prediction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526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Proposal, Verification, Parallelization — and compute-latency trade-offs.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MULTI-TOKEN PREDICTION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tokens per step.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77295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3310128"/>
            <a:ext cx="10515600" cy="0"/>
          </a:xfrm>
          <a:prstGeom prst="line">
            <a:avLst/>
          </a:prstGeom>
          <a:noFill/>
          <a:ln w="12700">
            <a:solidFill>
              <a:srgbClr val="ED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D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420624" cy="42062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9888" y="23408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tokens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414016"/>
            <a:ext cx="676656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2414016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41648" y="2414016"/>
            <a:ext cx="1298448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41648" y="241401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58968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58968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11112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11112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87184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58968" y="2084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pic>
        <p:nvPicPr>
          <p:cNvPr id="24" name="Image 0" descr="f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59736"/>
            <a:ext cx="2212848" cy="38404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22960" y="3767328"/>
            <a:ext cx="420624" cy="420624"/>
          </a:xfrm>
          <a:prstGeom prst="ellipse">
            <a:avLst/>
          </a:prstGeom>
          <a:solidFill>
            <a:srgbClr val="0F9E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296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89888" y="36667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89888" y="39593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58968" y="373989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58968" y="37398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035040" y="373989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035040" y="37398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611112" y="373989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FBDDDD"/>
          </a:solidFill>
          <a:ln w="15875">
            <a:solidFill>
              <a:srgbClr val="E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611112" y="37398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25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7187184" y="373989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EDEEF2"/>
          </a:solidFill>
          <a:ln w="1587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187184" y="37398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A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458968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03504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611112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187184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pic>
        <p:nvPicPr>
          <p:cNvPr id="41" name="Image 1" descr="f_the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785616"/>
            <a:ext cx="1545336" cy="384048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822960" y="5047488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822960" y="5047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1389888" y="49469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1389888" y="5239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mistake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3246120" y="5020056"/>
            <a:ext cx="676656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3246120" y="5020056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4041648" y="5020056"/>
            <a:ext cx="1298448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4041648" y="50200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</a:t>
            </a:r>
            <a:endParaRPr lang="en-US" sz="1500" dirty="0"/>
          </a:p>
        </p:txBody>
      </p:sp>
      <p:sp>
        <p:nvSpPr>
          <p:cNvPr id="50" name="Shape 46"/>
          <p:cNvSpPr/>
          <p:nvPr/>
        </p:nvSpPr>
        <p:spPr>
          <a:xfrm>
            <a:off x="5458968" y="502005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5458968" y="5020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52" name="Shape 48"/>
          <p:cNvSpPr/>
          <p:nvPr/>
        </p:nvSpPr>
        <p:spPr>
          <a:xfrm>
            <a:off x="6035040" y="502005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6035040" y="5020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54" name="Shape 50"/>
          <p:cNvSpPr/>
          <p:nvPr/>
        </p:nvSpPr>
        <p:spPr>
          <a:xfrm>
            <a:off x="6611112" y="502005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6611112" y="5020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56" name="Text 52"/>
          <p:cNvSpPr/>
          <p:nvPr/>
        </p:nvSpPr>
        <p:spPr>
          <a:xfrm>
            <a:off x="6611112" y="5532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8549640" y="4873752"/>
            <a:ext cx="2788920" cy="786384"/>
          </a:xfrm>
          <a:prstGeom prst="roundRect">
            <a:avLst>
              <a:gd name="adj" fmla="val 11628"/>
            </a:avLst>
          </a:prstGeom>
          <a:solidFill>
            <a:srgbClr val="FDF0E7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8686800" y="48920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55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tokens committed this step
</a:t>
            </a: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 for autoregressive → speedup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PTP is the fastest model.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model, LoRA-trained on ShareGPT · speedup on SpecBench (Xia et al., 2024) · RTX 6000.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549243987"/>
              </p:ext>
            </p:extLst>
          </p:nvPr>
        </p:nvGraphicFramePr>
        <p:xfrm>
          <a:off x="658368" y="2084832"/>
          <a:ext cx="8183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9189720" y="3063240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555480" y="296265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89720" y="3630168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D76E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55480" y="35295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Component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89720" y="4197096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FF5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555480" y="4096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Prediction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189720" y="4764024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0F9E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555480" y="4663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 Prediction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PTP finds the most tokens.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model, LoRA-trained on ShareGPT · tokens per step on SpecBench (Xia et al., 2024) · RTX 6000.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67111948"/>
              </p:ext>
            </p:extLst>
          </p:nvPr>
        </p:nvGraphicFramePr>
        <p:xfrm>
          <a:off x="658368" y="2084832"/>
          <a:ext cx="8183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9189720" y="3063240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555480" y="296265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89720" y="3630168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D76E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55480" y="35295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Component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89720" y="4197096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FF5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555480" y="4096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Prediction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189720" y="4764024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0F9E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555480" y="4663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 Prediction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5B45E-4B76-3737-1B78-C221B8E9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8B16EE-41F4-D0C7-D037-1E44F190BD66}"/>
              </a:ext>
            </a:extLst>
          </p:cNvPr>
          <p:cNvSpPr/>
          <p:nvPr/>
        </p:nvSpPr>
        <p:spPr>
          <a:xfrm>
            <a:off x="10195560" y="868680"/>
            <a:ext cx="384048" cy="384048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4C2D96-A3AA-DD26-871B-1404A0E2790F}"/>
              </a:ext>
            </a:extLst>
          </p:cNvPr>
          <p:cNvSpPr/>
          <p:nvPr/>
        </p:nvSpPr>
        <p:spPr>
          <a:xfrm>
            <a:off x="883920" y="1547261"/>
            <a:ext cx="10424160" cy="376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E97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Question:</a:t>
            </a:r>
            <a:br>
              <a:rPr lang="en-US" sz="5400" b="1" dirty="0">
                <a:solidFill>
                  <a:srgbClr val="E97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single GPU, what is the lowest latency we can achieve, that still produces high-quality outputs?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78613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do better?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 a complete recipe to get the most out of a pretrained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aphicFrame>
        <p:nvGraphicFramePr>
          <p:cNvPr id="13" name="Chart 0">
            <a:extLst>
              <a:ext uri="{FF2B5EF4-FFF2-40B4-BE49-F238E27FC236}">
                <a16:creationId xmlns:a16="http://schemas.microsoft.com/office/drawing/2014/main" id="{1C5CD90B-480B-8A32-F29F-71063FAF6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4128780"/>
              </p:ext>
            </p:extLst>
          </p:nvPr>
        </p:nvGraphicFramePr>
        <p:xfrm>
          <a:off x="1280160" y="2084832"/>
          <a:ext cx="9966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TOKEN PREDICTION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Auxiliaries characterize generated tokens.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PTP as model input, for MTP as token selector.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s49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788" y="1989107"/>
            <a:ext cx="7818120" cy="41965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mistakes does PTP make?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defines correct tokens as identical to the reference model for the same auxiliaries, MTP usually as high AR likelihood.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fig7_no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8" y="2219203"/>
            <a:ext cx="10241280" cy="37363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mistakes does PTP make?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fig7_ptp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8" y="2219203"/>
            <a:ext cx="10241280" cy="373633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0A1E01F4-65A9-57E9-4FC2-D38D646AFCBF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defines correct tokens as identical to the reference model for the same auxiliaries, MTP usually as high AR likelihood.</a:t>
            </a:r>
            <a:endParaRPr lang="en-US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ECDEB-A7A6-A24D-B47C-2186DAD3BC01}"/>
              </a:ext>
            </a:extLst>
          </p:cNvPr>
          <p:cNvSpPr txBox="1"/>
          <p:nvPr/>
        </p:nvSpPr>
        <p:spPr>
          <a:xfrm>
            <a:off x="5861786" y="5672828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5CC84"/>
                </a:solidFill>
              </a:rPr>
              <a:t>63%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0BE31-1153-403C-9E5D-54CA664E78D3}"/>
              </a:ext>
            </a:extLst>
          </p:cNvPr>
          <p:cNvSpPr txBox="1"/>
          <p:nvPr/>
        </p:nvSpPr>
        <p:spPr>
          <a:xfrm>
            <a:off x="9171272" y="5672828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5CC84"/>
                </a:solidFill>
              </a:rPr>
              <a:t>39%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broader verification criterion.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biases output but retains high quality in practice.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fi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8" y="2219203"/>
            <a:ext cx="10241280" cy="37363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ECB550-55A1-63FC-D7F6-A7863625ACAF}"/>
              </a:ext>
            </a:extLst>
          </p:cNvPr>
          <p:cNvSpPr txBox="1"/>
          <p:nvPr/>
        </p:nvSpPr>
        <p:spPr>
          <a:xfrm>
            <a:off x="5861786" y="5672828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5CC84"/>
                </a:solidFill>
              </a:rPr>
              <a:t>99%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177DE1-B489-3312-6D18-49B770DDC338}"/>
              </a:ext>
            </a:extLst>
          </p:cNvPr>
          <p:cNvSpPr txBox="1"/>
          <p:nvPr/>
        </p:nvSpPr>
        <p:spPr>
          <a:xfrm>
            <a:off x="9171272" y="5672828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5CC84"/>
                </a:solidFill>
              </a:rPr>
              <a:t>39%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4A9C2-E274-BA03-CFDB-3ED59001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CA2AC8-1FDD-33C9-6565-4CC5620F76AA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STEP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FDD5C8-2CFB-5BD2-BEC6-8B478FE4BAB2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AC0C937C-5414-AB88-DADD-7F76CF6628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4852269"/>
              </p:ext>
            </p:extLst>
          </p:nvPr>
        </p:nvGraphicFramePr>
        <p:xfrm>
          <a:off x="1280160" y="2084832"/>
          <a:ext cx="9966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1">
            <a:extLst>
              <a:ext uri="{FF2B5EF4-FFF2-40B4-BE49-F238E27FC236}">
                <a16:creationId xmlns:a16="http://schemas.microsoft.com/office/drawing/2014/main" id="{E352C37E-E09E-6B59-D94E-21BC76D409C3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broader verification criterion.</a:t>
            </a:r>
            <a:endParaRPr lang="en-US" sz="36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78E85F45-ACB4-88B8-81A8-1EF60827C824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biases output but retains high quality in practice.</a:t>
            </a:r>
            <a:endParaRPr lang="en-US" sz="1500" dirty="0"/>
          </a:p>
        </p:txBody>
      </p:sp>
      <p:sp>
        <p:nvSpPr>
          <p:cNvPr id="120" name="Arc 1">
            <a:extLst>
              <a:ext uri="{FF2B5EF4-FFF2-40B4-BE49-F238E27FC236}">
                <a16:creationId xmlns:a16="http://schemas.microsoft.com/office/drawing/2014/main" id="{E5FEF496-0C97-F5C6-9E0A-BE8617E8E9FC}"/>
              </a:ext>
            </a:extLst>
          </p:cNvPr>
          <p:cNvSpPr/>
          <p:nvPr/>
        </p:nvSpPr>
        <p:spPr>
          <a:xfrm>
            <a:off x="2762250" y="3793896"/>
            <a:ext cx="952500" cy="651154"/>
          </a:xfrm>
          <a:custGeom>
            <a:avLst/>
            <a:gdLst/>
            <a:ahLst/>
            <a:cxnLst/>
            <a:rect l="0" t="0" r="0" b="0"/>
            <a:pathLst>
              <a:path w="952500" h="651154">
                <a:moveTo>
                  <a:pt x="0" y="651154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1" name="Delta 1">
            <a:extLst>
              <a:ext uri="{FF2B5EF4-FFF2-40B4-BE49-F238E27FC236}">
                <a16:creationId xmlns:a16="http://schemas.microsoft.com/office/drawing/2014/main" id="{DBF3FC3F-9C09-010B-8CA4-D4CAF4FE5465}"/>
              </a:ext>
            </a:extLst>
          </p:cNvPr>
          <p:cNvSpPr txBox="1"/>
          <p:nvPr/>
        </p:nvSpPr>
        <p:spPr>
          <a:xfrm>
            <a:off x="2794000" y="3690976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+18%</a:t>
            </a:r>
          </a:p>
        </p:txBody>
      </p:sp>
    </p:spTree>
    <p:extLst>
      <p:ext uri="{BB962C8B-B14F-4D97-AF65-F5344CB8AC3E}">
        <p14:creationId xmlns:p14="http://schemas.microsoft.com/office/powerpoint/2010/main" val="407688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85F87-C86B-7E3A-7EBA-D7424702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C40197-38D2-71C3-69ED-A547D8714335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A18E02-9370-F349-3984-83A38F8C2FB6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more chances.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A5CA13-13DF-67D3-3AC1-2FBD7D39FE74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more compute, improves latency, no strong bias in practice.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301BAB6-7885-2DB7-629A-83FD5DAECB8C}"/>
              </a:ext>
            </a:extLst>
          </p:cNvPr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1832D4D7-A64E-67BB-1C51-1A28037658B9}"/>
              </a:ext>
            </a:extLst>
          </p:cNvPr>
          <p:cNvSpPr/>
          <p:nvPr/>
        </p:nvSpPr>
        <p:spPr>
          <a:xfrm>
            <a:off x="3246120" y="2414016"/>
            <a:ext cx="676656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D202277-E6E5-178D-E9E2-3FEA3434F8E2}"/>
              </a:ext>
            </a:extLst>
          </p:cNvPr>
          <p:cNvSpPr/>
          <p:nvPr/>
        </p:nvSpPr>
        <p:spPr>
          <a:xfrm>
            <a:off x="3246120" y="2414016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5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63BCEB99-63C8-C983-7873-542A7205C95D}"/>
              </a:ext>
            </a:extLst>
          </p:cNvPr>
          <p:cNvSpPr/>
          <p:nvPr/>
        </p:nvSpPr>
        <p:spPr>
          <a:xfrm>
            <a:off x="4041648" y="2414016"/>
            <a:ext cx="1298448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567271F3-1B40-F2D1-5D31-7B12C25CA8B3}"/>
              </a:ext>
            </a:extLst>
          </p:cNvPr>
          <p:cNvSpPr/>
          <p:nvPr/>
        </p:nvSpPr>
        <p:spPr>
          <a:xfrm>
            <a:off x="4041648" y="241401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</a:t>
            </a:r>
            <a:endParaRPr lang="en-US" sz="15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0C5C9099-110C-3C17-0397-45C714D34E89}"/>
              </a:ext>
            </a:extLst>
          </p:cNvPr>
          <p:cNvSpPr/>
          <p:nvPr/>
        </p:nvSpPr>
        <p:spPr>
          <a:xfrm>
            <a:off x="5458968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F1D0E0D4-69EC-7413-B9A6-42295AD6B7AA}"/>
              </a:ext>
            </a:extLst>
          </p:cNvPr>
          <p:cNvSpPr/>
          <p:nvPr/>
        </p:nvSpPr>
        <p:spPr>
          <a:xfrm>
            <a:off x="5458968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D967E60B-8B89-F8FA-0015-E7101DFA1A35}"/>
              </a:ext>
            </a:extLst>
          </p:cNvPr>
          <p:cNvSpPr/>
          <p:nvPr/>
        </p:nvSpPr>
        <p:spPr>
          <a:xfrm>
            <a:off x="6035040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90DA23BB-0879-9CE6-A18C-0088FD972D05}"/>
              </a:ext>
            </a:extLst>
          </p:cNvPr>
          <p:cNvSpPr/>
          <p:nvPr/>
        </p:nvSpPr>
        <p:spPr>
          <a:xfrm>
            <a:off x="6035040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endParaRPr lang="en-US" sz="15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52724050-5FE5-6AEE-0BCA-8FE767896448}"/>
              </a:ext>
            </a:extLst>
          </p:cNvPr>
          <p:cNvSpPr/>
          <p:nvPr/>
        </p:nvSpPr>
        <p:spPr>
          <a:xfrm>
            <a:off x="6611112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4F1F2035-5A46-835D-48BD-83432EF1EE4B}"/>
              </a:ext>
            </a:extLst>
          </p:cNvPr>
          <p:cNvSpPr/>
          <p:nvPr/>
        </p:nvSpPr>
        <p:spPr>
          <a:xfrm>
            <a:off x="6611112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1EF2BEB0-0275-7FFA-AE0B-2916FD67093C}"/>
              </a:ext>
            </a:extLst>
          </p:cNvPr>
          <p:cNvSpPr/>
          <p:nvPr/>
        </p:nvSpPr>
        <p:spPr>
          <a:xfrm>
            <a:off x="7187184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091EDBE2-C060-6F8F-0FCC-BF1D6649FE5B}"/>
              </a:ext>
            </a:extLst>
          </p:cNvPr>
          <p:cNvSpPr/>
          <p:nvPr/>
        </p:nvSpPr>
        <p:spPr>
          <a:xfrm>
            <a:off x="7187184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E9C191EF-1329-D6B8-70D0-16B924E49D35}"/>
              </a:ext>
            </a:extLst>
          </p:cNvPr>
          <p:cNvSpPr/>
          <p:nvPr/>
        </p:nvSpPr>
        <p:spPr>
          <a:xfrm>
            <a:off x="5458968" y="2084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D1DF57C2-B198-3373-1D72-D582C9085C28}"/>
              </a:ext>
            </a:extLst>
          </p:cNvPr>
          <p:cNvSpPr/>
          <p:nvPr/>
        </p:nvSpPr>
        <p:spPr>
          <a:xfrm>
            <a:off x="5458968" y="2952559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3075CED5-A563-79D4-9BC0-F3B50B2FF6A8}"/>
              </a:ext>
            </a:extLst>
          </p:cNvPr>
          <p:cNvSpPr/>
          <p:nvPr/>
        </p:nvSpPr>
        <p:spPr>
          <a:xfrm>
            <a:off x="5458968" y="2952559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70" name="Shape 15">
            <a:extLst>
              <a:ext uri="{FF2B5EF4-FFF2-40B4-BE49-F238E27FC236}">
                <a16:creationId xmlns:a16="http://schemas.microsoft.com/office/drawing/2014/main" id="{3FEA8E37-0AB0-3990-F795-6C0D0E9C6C6A}"/>
              </a:ext>
            </a:extLst>
          </p:cNvPr>
          <p:cNvSpPr/>
          <p:nvPr/>
        </p:nvSpPr>
        <p:spPr>
          <a:xfrm>
            <a:off x="6035040" y="2952559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463B540A-B676-F7F4-E94D-A068711E2C7B}"/>
              </a:ext>
            </a:extLst>
          </p:cNvPr>
          <p:cNvSpPr/>
          <p:nvPr/>
        </p:nvSpPr>
        <p:spPr>
          <a:xfrm>
            <a:off x="6035040" y="2952559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74" name="Shape 17">
            <a:extLst>
              <a:ext uri="{FF2B5EF4-FFF2-40B4-BE49-F238E27FC236}">
                <a16:creationId xmlns:a16="http://schemas.microsoft.com/office/drawing/2014/main" id="{D807E5F0-5F60-A394-9A88-95414EA9051E}"/>
              </a:ext>
            </a:extLst>
          </p:cNvPr>
          <p:cNvSpPr/>
          <p:nvPr/>
        </p:nvSpPr>
        <p:spPr>
          <a:xfrm>
            <a:off x="6611112" y="2952559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8BAD00F6-286F-B6DC-2A6F-252D03E32CDC}"/>
              </a:ext>
            </a:extLst>
          </p:cNvPr>
          <p:cNvSpPr/>
          <p:nvPr/>
        </p:nvSpPr>
        <p:spPr>
          <a:xfrm>
            <a:off x="6611112" y="2952559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E1946286-2012-7E9F-875B-7C42CBE37777}"/>
              </a:ext>
            </a:extLst>
          </p:cNvPr>
          <p:cNvSpPr/>
          <p:nvPr/>
        </p:nvSpPr>
        <p:spPr>
          <a:xfrm>
            <a:off x="7187184" y="2952559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20">
            <a:extLst>
              <a:ext uri="{FF2B5EF4-FFF2-40B4-BE49-F238E27FC236}">
                <a16:creationId xmlns:a16="http://schemas.microsoft.com/office/drawing/2014/main" id="{C284258E-407B-BB31-9BEA-D7AEA67BB91D}"/>
              </a:ext>
            </a:extLst>
          </p:cNvPr>
          <p:cNvSpPr/>
          <p:nvPr/>
        </p:nvSpPr>
        <p:spPr>
          <a:xfrm>
            <a:off x="7187184" y="2952559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20AAF582-A24D-D369-ED7F-F433713C2CA0}"/>
              </a:ext>
            </a:extLst>
          </p:cNvPr>
          <p:cNvSpPr/>
          <p:nvPr/>
        </p:nvSpPr>
        <p:spPr>
          <a:xfrm>
            <a:off x="5458968" y="3491102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14">
            <a:extLst>
              <a:ext uri="{FF2B5EF4-FFF2-40B4-BE49-F238E27FC236}">
                <a16:creationId xmlns:a16="http://schemas.microsoft.com/office/drawing/2014/main" id="{94868C98-BA15-6F53-69A5-D5712467FCC5}"/>
              </a:ext>
            </a:extLst>
          </p:cNvPr>
          <p:cNvSpPr/>
          <p:nvPr/>
        </p:nvSpPr>
        <p:spPr>
          <a:xfrm>
            <a:off x="5458968" y="349110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86" name="Shape 15">
            <a:extLst>
              <a:ext uri="{FF2B5EF4-FFF2-40B4-BE49-F238E27FC236}">
                <a16:creationId xmlns:a16="http://schemas.microsoft.com/office/drawing/2014/main" id="{59FFE213-D27C-BD84-099D-1107DE442756}"/>
              </a:ext>
            </a:extLst>
          </p:cNvPr>
          <p:cNvSpPr/>
          <p:nvPr/>
        </p:nvSpPr>
        <p:spPr>
          <a:xfrm>
            <a:off x="6035040" y="3491102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B7BA3F90-1E1D-427D-AEE5-01ABBB942C1A}"/>
              </a:ext>
            </a:extLst>
          </p:cNvPr>
          <p:cNvSpPr/>
          <p:nvPr/>
        </p:nvSpPr>
        <p:spPr>
          <a:xfrm>
            <a:off x="6035040" y="349110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F1D6A9C2-C5CF-D769-3771-50E8DC8D1838}"/>
              </a:ext>
            </a:extLst>
          </p:cNvPr>
          <p:cNvSpPr/>
          <p:nvPr/>
        </p:nvSpPr>
        <p:spPr>
          <a:xfrm>
            <a:off x="6611112" y="3491102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18">
            <a:extLst>
              <a:ext uri="{FF2B5EF4-FFF2-40B4-BE49-F238E27FC236}">
                <a16:creationId xmlns:a16="http://schemas.microsoft.com/office/drawing/2014/main" id="{464F9F88-FB84-769E-14C6-73043A0F0219}"/>
              </a:ext>
            </a:extLst>
          </p:cNvPr>
          <p:cNvSpPr/>
          <p:nvPr/>
        </p:nvSpPr>
        <p:spPr>
          <a:xfrm>
            <a:off x="6611112" y="349110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94" name="Shape 19">
            <a:extLst>
              <a:ext uri="{FF2B5EF4-FFF2-40B4-BE49-F238E27FC236}">
                <a16:creationId xmlns:a16="http://schemas.microsoft.com/office/drawing/2014/main" id="{C7D40608-D57E-23CB-AB38-EFD0E8803187}"/>
              </a:ext>
            </a:extLst>
          </p:cNvPr>
          <p:cNvSpPr/>
          <p:nvPr/>
        </p:nvSpPr>
        <p:spPr>
          <a:xfrm>
            <a:off x="7187184" y="3491102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20">
            <a:extLst>
              <a:ext uri="{FF2B5EF4-FFF2-40B4-BE49-F238E27FC236}">
                <a16:creationId xmlns:a16="http://schemas.microsoft.com/office/drawing/2014/main" id="{C0A10F05-9792-CF16-4EF7-58BB5617E2C8}"/>
              </a:ext>
            </a:extLst>
          </p:cNvPr>
          <p:cNvSpPr/>
          <p:nvPr/>
        </p:nvSpPr>
        <p:spPr>
          <a:xfrm>
            <a:off x="7187184" y="349110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98" name="Shape 5">
            <a:extLst>
              <a:ext uri="{FF2B5EF4-FFF2-40B4-BE49-F238E27FC236}">
                <a16:creationId xmlns:a16="http://schemas.microsoft.com/office/drawing/2014/main" id="{012E300B-39FE-70CF-46C8-BE6F57313516}"/>
              </a:ext>
            </a:extLst>
          </p:cNvPr>
          <p:cNvSpPr/>
          <p:nvPr/>
        </p:nvSpPr>
        <p:spPr>
          <a:xfrm>
            <a:off x="822960" y="2441448"/>
            <a:ext cx="420624" cy="42062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7">
            <a:extLst>
              <a:ext uri="{FF2B5EF4-FFF2-40B4-BE49-F238E27FC236}">
                <a16:creationId xmlns:a16="http://schemas.microsoft.com/office/drawing/2014/main" id="{7845621F-99C0-81DD-0B62-FF83D8171AFE}"/>
              </a:ext>
            </a:extLst>
          </p:cNvPr>
          <p:cNvSpPr/>
          <p:nvPr/>
        </p:nvSpPr>
        <p:spPr>
          <a:xfrm>
            <a:off x="1383030" y="2429637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600" dirty="0"/>
          </a:p>
        </p:txBody>
      </p:sp>
      <p:sp>
        <p:nvSpPr>
          <p:cNvPr id="102" name="Text 8">
            <a:extLst>
              <a:ext uri="{FF2B5EF4-FFF2-40B4-BE49-F238E27FC236}">
                <a16:creationId xmlns:a16="http://schemas.microsoft.com/office/drawing/2014/main" id="{BD3963AB-CE25-210A-43FF-B3D670E2728D}"/>
              </a:ext>
            </a:extLst>
          </p:cNvPr>
          <p:cNvSpPr/>
          <p:nvPr/>
        </p:nvSpPr>
        <p:spPr>
          <a:xfrm>
            <a:off x="1368857" y="2680525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strands</a:t>
            </a:r>
            <a:endParaRPr lang="en-US" sz="1050" dirty="0"/>
          </a:p>
        </p:txBody>
      </p:sp>
      <p:sp>
        <p:nvSpPr>
          <p:cNvPr id="104" name="Text 6">
            <a:extLst>
              <a:ext uri="{FF2B5EF4-FFF2-40B4-BE49-F238E27FC236}">
                <a16:creationId xmlns:a16="http://schemas.microsoft.com/office/drawing/2014/main" id="{3C6992A1-5013-9E38-204F-0936FF0C7639}"/>
              </a:ext>
            </a:extLst>
          </p:cNvPr>
          <p:cNvSpPr/>
          <p:nvPr/>
        </p:nvSpPr>
        <p:spPr>
          <a:xfrm>
            <a:off x="836676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6" name="Shape 22">
            <a:extLst>
              <a:ext uri="{FF2B5EF4-FFF2-40B4-BE49-F238E27FC236}">
                <a16:creationId xmlns:a16="http://schemas.microsoft.com/office/drawing/2014/main" id="{F9ED6AFC-B7CD-2151-86EF-13D9C7278EB8}"/>
              </a:ext>
            </a:extLst>
          </p:cNvPr>
          <p:cNvSpPr/>
          <p:nvPr/>
        </p:nvSpPr>
        <p:spPr>
          <a:xfrm>
            <a:off x="822960" y="4268343"/>
            <a:ext cx="420624" cy="420624"/>
          </a:xfrm>
          <a:prstGeom prst="ellipse">
            <a:avLst/>
          </a:prstGeom>
          <a:solidFill>
            <a:srgbClr val="0F9E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23">
            <a:extLst>
              <a:ext uri="{FF2B5EF4-FFF2-40B4-BE49-F238E27FC236}">
                <a16:creationId xmlns:a16="http://schemas.microsoft.com/office/drawing/2014/main" id="{3E4470EE-6F14-A661-B285-051B4E291195}"/>
              </a:ext>
            </a:extLst>
          </p:cNvPr>
          <p:cNvSpPr/>
          <p:nvPr/>
        </p:nvSpPr>
        <p:spPr>
          <a:xfrm>
            <a:off x="822960" y="42683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51DB5CE3-0035-4BB5-32D4-B0C4ED430B27}"/>
              </a:ext>
            </a:extLst>
          </p:cNvPr>
          <p:cNvSpPr/>
          <p:nvPr/>
        </p:nvSpPr>
        <p:spPr>
          <a:xfrm>
            <a:off x="1458468" y="4268343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12" name="Text 25">
            <a:extLst>
              <a:ext uri="{FF2B5EF4-FFF2-40B4-BE49-F238E27FC236}">
                <a16:creationId xmlns:a16="http://schemas.microsoft.com/office/drawing/2014/main" id="{6A33EE65-516B-718C-9E55-FF081CBC57E0}"/>
              </a:ext>
            </a:extLst>
          </p:cNvPr>
          <p:cNvSpPr/>
          <p:nvPr/>
        </p:nvSpPr>
        <p:spPr>
          <a:xfrm>
            <a:off x="1412748" y="4515231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050" dirty="0"/>
          </a:p>
        </p:txBody>
      </p:sp>
      <p:sp>
        <p:nvSpPr>
          <p:cNvPr id="114" name="Shape 26">
            <a:extLst>
              <a:ext uri="{FF2B5EF4-FFF2-40B4-BE49-F238E27FC236}">
                <a16:creationId xmlns:a16="http://schemas.microsoft.com/office/drawing/2014/main" id="{54C89EBF-1CF0-B3AB-64D9-1985F7BA0C67}"/>
              </a:ext>
            </a:extLst>
          </p:cNvPr>
          <p:cNvSpPr/>
          <p:nvPr/>
        </p:nvSpPr>
        <p:spPr>
          <a:xfrm>
            <a:off x="5458968" y="424091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27">
            <a:extLst>
              <a:ext uri="{FF2B5EF4-FFF2-40B4-BE49-F238E27FC236}">
                <a16:creationId xmlns:a16="http://schemas.microsoft.com/office/drawing/2014/main" id="{ED86589C-FD96-9B64-F7BD-530A25B9A756}"/>
              </a:ext>
            </a:extLst>
          </p:cNvPr>
          <p:cNvSpPr/>
          <p:nvPr/>
        </p:nvSpPr>
        <p:spPr>
          <a:xfrm>
            <a:off x="5458968" y="424091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126" name="Shape 32">
            <a:extLst>
              <a:ext uri="{FF2B5EF4-FFF2-40B4-BE49-F238E27FC236}">
                <a16:creationId xmlns:a16="http://schemas.microsoft.com/office/drawing/2014/main" id="{EB9F201A-03CC-F803-A1D5-63BAE112B586}"/>
              </a:ext>
            </a:extLst>
          </p:cNvPr>
          <p:cNvSpPr/>
          <p:nvPr/>
        </p:nvSpPr>
        <p:spPr>
          <a:xfrm>
            <a:off x="7187184" y="424091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EDEEF2"/>
          </a:solidFill>
          <a:ln w="1587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33">
            <a:extLst>
              <a:ext uri="{FF2B5EF4-FFF2-40B4-BE49-F238E27FC236}">
                <a16:creationId xmlns:a16="http://schemas.microsoft.com/office/drawing/2014/main" id="{2E639033-2DE3-EED6-4010-20A699AFA378}"/>
              </a:ext>
            </a:extLst>
          </p:cNvPr>
          <p:cNvSpPr/>
          <p:nvPr/>
        </p:nvSpPr>
        <p:spPr>
          <a:xfrm>
            <a:off x="7187184" y="424091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A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132" name="Shape 26">
            <a:extLst>
              <a:ext uri="{FF2B5EF4-FFF2-40B4-BE49-F238E27FC236}">
                <a16:creationId xmlns:a16="http://schemas.microsoft.com/office/drawing/2014/main" id="{6B90D096-7989-A386-FE9A-95F1F87FBE13}"/>
              </a:ext>
            </a:extLst>
          </p:cNvPr>
          <p:cNvSpPr/>
          <p:nvPr/>
        </p:nvSpPr>
        <p:spPr>
          <a:xfrm>
            <a:off x="5458968" y="480879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27">
            <a:extLst>
              <a:ext uri="{FF2B5EF4-FFF2-40B4-BE49-F238E27FC236}">
                <a16:creationId xmlns:a16="http://schemas.microsoft.com/office/drawing/2014/main" id="{C7CE258B-A8F0-9AC7-2513-8420C9A57ECE}"/>
              </a:ext>
            </a:extLst>
          </p:cNvPr>
          <p:cNvSpPr/>
          <p:nvPr/>
        </p:nvSpPr>
        <p:spPr>
          <a:xfrm>
            <a:off x="5458968" y="480879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136" name="Shape 28">
            <a:extLst>
              <a:ext uri="{FF2B5EF4-FFF2-40B4-BE49-F238E27FC236}">
                <a16:creationId xmlns:a16="http://schemas.microsoft.com/office/drawing/2014/main" id="{A63CD98E-8F05-29BA-94F5-1B8E38D56093}"/>
              </a:ext>
            </a:extLst>
          </p:cNvPr>
          <p:cNvSpPr/>
          <p:nvPr/>
        </p:nvSpPr>
        <p:spPr>
          <a:xfrm>
            <a:off x="6035040" y="480879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29">
            <a:extLst>
              <a:ext uri="{FF2B5EF4-FFF2-40B4-BE49-F238E27FC236}">
                <a16:creationId xmlns:a16="http://schemas.microsoft.com/office/drawing/2014/main" id="{3F936700-8232-9826-F8DA-1FD3E34E4EC6}"/>
              </a:ext>
            </a:extLst>
          </p:cNvPr>
          <p:cNvSpPr/>
          <p:nvPr/>
        </p:nvSpPr>
        <p:spPr>
          <a:xfrm>
            <a:off x="6035040" y="480879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140" name="Shape 30">
            <a:extLst>
              <a:ext uri="{FF2B5EF4-FFF2-40B4-BE49-F238E27FC236}">
                <a16:creationId xmlns:a16="http://schemas.microsoft.com/office/drawing/2014/main" id="{56928E06-0764-8B08-06BF-84C937AC4C44}"/>
              </a:ext>
            </a:extLst>
          </p:cNvPr>
          <p:cNvSpPr/>
          <p:nvPr/>
        </p:nvSpPr>
        <p:spPr>
          <a:xfrm>
            <a:off x="6611112" y="480879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FBDDDD"/>
          </a:solidFill>
          <a:ln w="15875">
            <a:solidFill>
              <a:srgbClr val="E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31">
            <a:extLst>
              <a:ext uri="{FF2B5EF4-FFF2-40B4-BE49-F238E27FC236}">
                <a16:creationId xmlns:a16="http://schemas.microsoft.com/office/drawing/2014/main" id="{F949CFEA-73B9-5C95-B397-EC03B34633BA}"/>
              </a:ext>
            </a:extLst>
          </p:cNvPr>
          <p:cNvSpPr/>
          <p:nvPr/>
        </p:nvSpPr>
        <p:spPr>
          <a:xfrm>
            <a:off x="6611112" y="480879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25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144" name="Shape 32">
            <a:extLst>
              <a:ext uri="{FF2B5EF4-FFF2-40B4-BE49-F238E27FC236}">
                <a16:creationId xmlns:a16="http://schemas.microsoft.com/office/drawing/2014/main" id="{C840E1F4-3C69-E262-5223-A0111A91A862}"/>
              </a:ext>
            </a:extLst>
          </p:cNvPr>
          <p:cNvSpPr/>
          <p:nvPr/>
        </p:nvSpPr>
        <p:spPr>
          <a:xfrm>
            <a:off x="7187184" y="480879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EDEEF2"/>
          </a:solidFill>
          <a:ln w="1587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33">
            <a:extLst>
              <a:ext uri="{FF2B5EF4-FFF2-40B4-BE49-F238E27FC236}">
                <a16:creationId xmlns:a16="http://schemas.microsoft.com/office/drawing/2014/main" id="{BDABB163-8F26-5974-C02E-FBC804ABF945}"/>
              </a:ext>
            </a:extLst>
          </p:cNvPr>
          <p:cNvSpPr/>
          <p:nvPr/>
        </p:nvSpPr>
        <p:spPr>
          <a:xfrm>
            <a:off x="7187184" y="480879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A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164" name="Shape 26">
            <a:extLst>
              <a:ext uri="{FF2B5EF4-FFF2-40B4-BE49-F238E27FC236}">
                <a16:creationId xmlns:a16="http://schemas.microsoft.com/office/drawing/2014/main" id="{D9278B02-BDF3-12CC-5DBC-48B74E5CE1B5}"/>
              </a:ext>
            </a:extLst>
          </p:cNvPr>
          <p:cNvSpPr/>
          <p:nvPr/>
        </p:nvSpPr>
        <p:spPr>
          <a:xfrm>
            <a:off x="5468112" y="5377052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27">
            <a:extLst>
              <a:ext uri="{FF2B5EF4-FFF2-40B4-BE49-F238E27FC236}">
                <a16:creationId xmlns:a16="http://schemas.microsoft.com/office/drawing/2014/main" id="{4BFDB253-ED0F-7F19-285E-9E00C6916DCC}"/>
              </a:ext>
            </a:extLst>
          </p:cNvPr>
          <p:cNvSpPr/>
          <p:nvPr/>
        </p:nvSpPr>
        <p:spPr>
          <a:xfrm>
            <a:off x="5468112" y="53770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168" name="Shape 28">
            <a:extLst>
              <a:ext uri="{FF2B5EF4-FFF2-40B4-BE49-F238E27FC236}">
                <a16:creationId xmlns:a16="http://schemas.microsoft.com/office/drawing/2014/main" id="{51405374-9AF2-0B43-C377-7A29DE075ABA}"/>
              </a:ext>
            </a:extLst>
          </p:cNvPr>
          <p:cNvSpPr/>
          <p:nvPr/>
        </p:nvSpPr>
        <p:spPr>
          <a:xfrm>
            <a:off x="6044184" y="5377052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29">
            <a:extLst>
              <a:ext uri="{FF2B5EF4-FFF2-40B4-BE49-F238E27FC236}">
                <a16:creationId xmlns:a16="http://schemas.microsoft.com/office/drawing/2014/main" id="{EA3FB01E-886E-8807-49E5-8A0E9D9D4F75}"/>
              </a:ext>
            </a:extLst>
          </p:cNvPr>
          <p:cNvSpPr/>
          <p:nvPr/>
        </p:nvSpPr>
        <p:spPr>
          <a:xfrm>
            <a:off x="6044184" y="53770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174" name="Text 31">
            <a:extLst>
              <a:ext uri="{FF2B5EF4-FFF2-40B4-BE49-F238E27FC236}">
                <a16:creationId xmlns:a16="http://schemas.microsoft.com/office/drawing/2014/main" id="{A8452DA3-B8AC-1F59-E9B9-DAEF9B681880}"/>
              </a:ext>
            </a:extLst>
          </p:cNvPr>
          <p:cNvSpPr/>
          <p:nvPr/>
        </p:nvSpPr>
        <p:spPr>
          <a:xfrm>
            <a:off x="6620256" y="53770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80" name="Shape 32">
            <a:extLst>
              <a:ext uri="{FF2B5EF4-FFF2-40B4-BE49-F238E27FC236}">
                <a16:creationId xmlns:a16="http://schemas.microsoft.com/office/drawing/2014/main" id="{EF7D03F0-395D-EABD-B2A6-E43DE6215F91}"/>
              </a:ext>
            </a:extLst>
          </p:cNvPr>
          <p:cNvSpPr/>
          <p:nvPr/>
        </p:nvSpPr>
        <p:spPr>
          <a:xfrm>
            <a:off x="6620256" y="424091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EDEEF2"/>
          </a:solidFill>
          <a:ln w="1587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33">
            <a:extLst>
              <a:ext uri="{FF2B5EF4-FFF2-40B4-BE49-F238E27FC236}">
                <a16:creationId xmlns:a16="http://schemas.microsoft.com/office/drawing/2014/main" id="{D7172C68-716E-C882-80B1-D06AFF177287}"/>
              </a:ext>
            </a:extLst>
          </p:cNvPr>
          <p:cNvSpPr/>
          <p:nvPr/>
        </p:nvSpPr>
        <p:spPr>
          <a:xfrm>
            <a:off x="6620256" y="424091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AB0BE"/>
                </a:solidFill>
                <a:latin typeface="Courier New" pitchFamily="34" charset="0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184" name="Shape 30">
            <a:extLst>
              <a:ext uri="{FF2B5EF4-FFF2-40B4-BE49-F238E27FC236}">
                <a16:creationId xmlns:a16="http://schemas.microsoft.com/office/drawing/2014/main" id="{C63AE0D2-C286-966A-0022-05E642DB2ACA}"/>
              </a:ext>
            </a:extLst>
          </p:cNvPr>
          <p:cNvSpPr/>
          <p:nvPr/>
        </p:nvSpPr>
        <p:spPr>
          <a:xfrm>
            <a:off x="6048756" y="4240530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FBDDDD"/>
          </a:solidFill>
          <a:ln w="15875">
            <a:solidFill>
              <a:srgbClr val="E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31">
            <a:extLst>
              <a:ext uri="{FF2B5EF4-FFF2-40B4-BE49-F238E27FC236}">
                <a16:creationId xmlns:a16="http://schemas.microsoft.com/office/drawing/2014/main" id="{90931075-A1D6-3E65-F7FE-B356733C3159}"/>
              </a:ext>
            </a:extLst>
          </p:cNvPr>
          <p:cNvSpPr/>
          <p:nvPr/>
        </p:nvSpPr>
        <p:spPr>
          <a:xfrm>
            <a:off x="6048756" y="424053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2525"/>
                </a:solidFill>
                <a:latin typeface="Courier New" pitchFamily="34" charset="0"/>
                <a:cs typeface="Courier New" pitchFamily="34" charset="-120"/>
              </a:rPr>
              <a:t>num</a:t>
            </a:r>
            <a:endParaRPr lang="en-US" sz="1500" dirty="0"/>
          </a:p>
        </p:txBody>
      </p:sp>
      <p:sp>
        <p:nvSpPr>
          <p:cNvPr id="192" name="Shape 26">
            <a:extLst>
              <a:ext uri="{FF2B5EF4-FFF2-40B4-BE49-F238E27FC236}">
                <a16:creationId xmlns:a16="http://schemas.microsoft.com/office/drawing/2014/main" id="{0315CA5A-F4DC-EBF3-A165-55DDAD3F18A6}"/>
              </a:ext>
            </a:extLst>
          </p:cNvPr>
          <p:cNvSpPr/>
          <p:nvPr/>
        </p:nvSpPr>
        <p:spPr>
          <a:xfrm>
            <a:off x="6620256" y="537667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27">
            <a:extLst>
              <a:ext uri="{FF2B5EF4-FFF2-40B4-BE49-F238E27FC236}">
                <a16:creationId xmlns:a16="http://schemas.microsoft.com/office/drawing/2014/main" id="{235734FC-F7C6-CC08-3A67-F26AE46662CD}"/>
              </a:ext>
            </a:extLst>
          </p:cNvPr>
          <p:cNvSpPr/>
          <p:nvPr/>
        </p:nvSpPr>
        <p:spPr>
          <a:xfrm>
            <a:off x="6620256" y="537667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196" name="Shape 28">
            <a:extLst>
              <a:ext uri="{FF2B5EF4-FFF2-40B4-BE49-F238E27FC236}">
                <a16:creationId xmlns:a16="http://schemas.microsoft.com/office/drawing/2014/main" id="{EADCFF06-0AFF-D2AB-4855-42275DE7FDBD}"/>
              </a:ext>
            </a:extLst>
          </p:cNvPr>
          <p:cNvSpPr/>
          <p:nvPr/>
        </p:nvSpPr>
        <p:spPr>
          <a:xfrm>
            <a:off x="7196328" y="5376671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 29">
            <a:extLst>
              <a:ext uri="{FF2B5EF4-FFF2-40B4-BE49-F238E27FC236}">
                <a16:creationId xmlns:a16="http://schemas.microsoft.com/office/drawing/2014/main" id="{4F77E0E4-71FE-974F-0514-ACCE87704857}"/>
              </a:ext>
            </a:extLst>
          </p:cNvPr>
          <p:cNvSpPr/>
          <p:nvPr/>
        </p:nvSpPr>
        <p:spPr>
          <a:xfrm>
            <a:off x="7196328" y="5376671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200" name="Shape 3">
            <a:extLst>
              <a:ext uri="{FF2B5EF4-FFF2-40B4-BE49-F238E27FC236}">
                <a16:creationId xmlns:a16="http://schemas.microsoft.com/office/drawing/2014/main" id="{8351EF30-3C82-493A-5CE8-5C3A4E42ACE4}"/>
              </a:ext>
            </a:extLst>
          </p:cNvPr>
          <p:cNvSpPr/>
          <p:nvPr/>
        </p:nvSpPr>
        <p:spPr>
          <a:xfrm>
            <a:off x="838200" y="4072128"/>
            <a:ext cx="10515600" cy="0"/>
          </a:xfrm>
          <a:prstGeom prst="line">
            <a:avLst/>
          </a:prstGeom>
          <a:noFill/>
          <a:ln w="12700">
            <a:solidFill>
              <a:srgbClr val="ED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53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5EB90-4A13-5688-8626-39AD4AC3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453D43-0141-B4CF-74FB-62255D4496D8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D83958-EB80-618B-749D-BF4A31E10CD8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more chances.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55B6A5-7D0F-E505-118A-748EA28F52C1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more compute, improves latency, no strong bias in practice.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78D6C9-7601-C472-A04A-1863A9E49A5A}"/>
              </a:ext>
            </a:extLst>
          </p:cNvPr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fig7.png">
            <a:extLst>
              <a:ext uri="{FF2B5EF4-FFF2-40B4-BE49-F238E27FC236}">
                <a16:creationId xmlns:a16="http://schemas.microsoft.com/office/drawing/2014/main" id="{4BBD72E0-CF97-D976-DD46-F2F2D81D4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8" y="2219203"/>
            <a:ext cx="10241280" cy="37363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0ACE9C-83D7-9DDC-60DE-E253005EB595}"/>
              </a:ext>
            </a:extLst>
          </p:cNvPr>
          <p:cNvSpPr txBox="1"/>
          <p:nvPr/>
        </p:nvSpPr>
        <p:spPr>
          <a:xfrm>
            <a:off x="5861786" y="5672828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5CC84"/>
                </a:solidFill>
              </a:rPr>
              <a:t>99%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8AD7E-B12E-E077-6848-B74E53838145}"/>
              </a:ext>
            </a:extLst>
          </p:cNvPr>
          <p:cNvSpPr txBox="1"/>
          <p:nvPr/>
        </p:nvSpPr>
        <p:spPr>
          <a:xfrm>
            <a:off x="9171272" y="5672828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5CC84"/>
                </a:solidFill>
              </a:rPr>
              <a:t>39%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CB3D2-624A-AA49-81D7-668591296EC8}"/>
              </a:ext>
            </a:extLst>
          </p:cNvPr>
          <p:cNvSpPr/>
          <p:nvPr/>
        </p:nvSpPr>
        <p:spPr>
          <a:xfrm>
            <a:off x="904568" y="2113935"/>
            <a:ext cx="7089058" cy="408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8AEF1DC-484E-223B-D648-8F9248D19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024388"/>
            <a:ext cx="1037300" cy="5186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A89D96D-E5D4-7612-970E-72EDAC6174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90" r="20142"/>
          <a:stretch>
            <a:fillRect/>
          </a:stretch>
        </p:blipFill>
        <p:spPr>
          <a:xfrm>
            <a:off x="932000" y="3906833"/>
            <a:ext cx="609600" cy="5186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4E757B2-F79B-CABD-19E0-067C9F6F6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89278"/>
            <a:ext cx="1037300" cy="5186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A765D25-0417-43BE-089E-2408BC3203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90" r="20142"/>
          <a:stretch>
            <a:fillRect/>
          </a:stretch>
        </p:blipFill>
        <p:spPr>
          <a:xfrm>
            <a:off x="1541600" y="3914355"/>
            <a:ext cx="609600" cy="5186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46A8606-D895-E532-6CA7-5B761B4ECAEB}"/>
              </a:ext>
            </a:extLst>
          </p:cNvPr>
          <p:cNvSpPr txBox="1"/>
          <p:nvPr/>
        </p:nvSpPr>
        <p:spPr>
          <a:xfrm>
            <a:off x="1540122" y="4875980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4D90"/>
                </a:solidFill>
              </a:rPr>
              <a:t>× 50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44C968-AE17-E7B4-6A5D-A286EF984687}"/>
              </a:ext>
            </a:extLst>
          </p:cNvPr>
          <p:cNvSpPr txBox="1"/>
          <p:nvPr/>
        </p:nvSpPr>
        <p:spPr>
          <a:xfrm>
            <a:off x="4343410" y="3099047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5CC84"/>
                </a:solidFill>
              </a:rPr>
              <a:t>39%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CC3F7F-FE56-32B6-79DD-87C547D3E493}"/>
                  </a:ext>
                </a:extLst>
              </p:cNvPr>
              <p:cNvSpPr txBox="1"/>
              <p:nvPr/>
            </p:nvSpPr>
            <p:spPr>
              <a:xfrm>
                <a:off x="3556934" y="3981492"/>
                <a:ext cx="26028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1−(1−</m:t>
                      </m:r>
                      <m:r>
                        <a:rPr lang="en-US" i="1" dirty="0" smtClean="0">
                          <a:solidFill>
                            <a:srgbClr val="85CC84"/>
                          </a:solidFill>
                          <a:latin typeface="Cambria Math" panose="02040503050406030204" pitchFamily="18" charset="0"/>
                        </a:rPr>
                        <m:t>39%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4DBB5F"/>
                          </a:solidFill>
                          <a:latin typeface="Cambria Math" panose="02040503050406030204" pitchFamily="18" charset="0"/>
                        </a:rPr>
                        <m:t>63%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CC3F7F-FE56-32B6-79DD-87C547D3E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934" y="3981492"/>
                <a:ext cx="2602857" cy="369332"/>
              </a:xfrm>
              <a:prstGeom prst="rect">
                <a:avLst/>
              </a:prstGeom>
              <a:blipFill>
                <a:blip r:embed="rId5"/>
                <a:stretch>
                  <a:fillRect t="-9836" r="-937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AAFD1BC-1AFF-ED97-4A42-5DCF552CB508}"/>
                  </a:ext>
                </a:extLst>
              </p:cNvPr>
              <p:cNvSpPr txBox="1"/>
              <p:nvPr/>
            </p:nvSpPr>
            <p:spPr>
              <a:xfrm>
                <a:off x="3468443" y="4875980"/>
                <a:ext cx="2779840" cy="372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1−(1−</m:t>
                      </m:r>
                      <m:r>
                        <a:rPr lang="en-US" i="1" dirty="0" smtClean="0">
                          <a:solidFill>
                            <a:srgbClr val="85CC84"/>
                          </a:solidFill>
                          <a:latin typeface="Cambria Math" panose="02040503050406030204" pitchFamily="18" charset="0"/>
                        </a:rPr>
                        <m:t>39%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rgbClr val="85CC84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AAFD1BC-1AFF-ED97-4A42-5DCF552CB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443" y="4875980"/>
                <a:ext cx="2779840" cy="372410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577156F-0C57-9A47-215A-652213DF1B79}"/>
              </a:ext>
            </a:extLst>
          </p:cNvPr>
          <p:cNvCxnSpPr/>
          <p:nvPr/>
        </p:nvCxnSpPr>
        <p:spPr>
          <a:xfrm>
            <a:off x="2959510" y="2634473"/>
            <a:ext cx="0" cy="3057447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744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9A0D1-8E0B-5D3F-EDFE-E1D1D35D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D38714-3386-7B0D-2E4A-910349C0DAEF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STEP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05A56C-C59E-4017-4876-12844927187B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549ABCBF-636D-296C-4945-592F9356B2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4567414"/>
              </p:ext>
            </p:extLst>
          </p:nvPr>
        </p:nvGraphicFramePr>
        <p:xfrm>
          <a:off x="1280160" y="2084832"/>
          <a:ext cx="9966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1">
            <a:extLst>
              <a:ext uri="{FF2B5EF4-FFF2-40B4-BE49-F238E27FC236}">
                <a16:creationId xmlns:a16="http://schemas.microsoft.com/office/drawing/2014/main" id="{C2D09315-C145-F7F6-8785-AF34161AED6D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more chances.</a:t>
            </a:r>
            <a:endParaRPr lang="en-US" sz="36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502B17EA-CBE7-49F0-172E-F3652E5EE4E2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more compute, improves latency, no strong bias in practice.</a:t>
            </a:r>
            <a:endParaRPr lang="en-US" sz="1500" dirty="0"/>
          </a:p>
        </p:txBody>
      </p:sp>
      <p:sp>
        <p:nvSpPr>
          <p:cNvPr id="120" name="Arc 1">
            <a:extLst>
              <a:ext uri="{FF2B5EF4-FFF2-40B4-BE49-F238E27FC236}">
                <a16:creationId xmlns:a16="http://schemas.microsoft.com/office/drawing/2014/main" id="{CC9FC30A-A3F6-F6B6-BCAA-FA9C1F254BEA}"/>
              </a:ext>
            </a:extLst>
          </p:cNvPr>
          <p:cNvSpPr/>
          <p:nvPr/>
        </p:nvSpPr>
        <p:spPr>
          <a:xfrm>
            <a:off x="2762250" y="3793896"/>
            <a:ext cx="952500" cy="651154"/>
          </a:xfrm>
          <a:custGeom>
            <a:avLst/>
            <a:gdLst/>
            <a:ahLst/>
            <a:cxnLst/>
            <a:rect l="0" t="0" r="0" b="0"/>
            <a:pathLst>
              <a:path w="952500" h="651154">
                <a:moveTo>
                  <a:pt x="0" y="651154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1" name="Delta 1">
            <a:extLst>
              <a:ext uri="{FF2B5EF4-FFF2-40B4-BE49-F238E27FC236}">
                <a16:creationId xmlns:a16="http://schemas.microsoft.com/office/drawing/2014/main" id="{3547549C-D514-AFDD-F2F3-5D9E958D5183}"/>
              </a:ext>
            </a:extLst>
          </p:cNvPr>
          <p:cNvSpPr txBox="1"/>
          <p:nvPr/>
        </p:nvSpPr>
        <p:spPr>
          <a:xfrm>
            <a:off x="2794000" y="3690976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+18%</a:t>
            </a:r>
          </a:p>
        </p:txBody>
      </p:sp>
      <p:sp>
        <p:nvSpPr>
          <p:cNvPr id="122" name="Arc 2">
            <a:extLst>
              <a:ext uri="{FF2B5EF4-FFF2-40B4-BE49-F238E27FC236}">
                <a16:creationId xmlns:a16="http://schemas.microsoft.com/office/drawing/2014/main" id="{2FF8BC28-4B83-D167-5BBD-94C13340A929}"/>
              </a:ext>
            </a:extLst>
          </p:cNvPr>
          <p:cNvSpPr/>
          <p:nvPr/>
        </p:nvSpPr>
        <p:spPr>
          <a:xfrm>
            <a:off x="4349750" y="3627018"/>
            <a:ext cx="952500" cy="573278"/>
          </a:xfrm>
          <a:custGeom>
            <a:avLst/>
            <a:gdLst/>
            <a:ahLst/>
            <a:cxnLst/>
            <a:rect l="0" t="0" r="0" b="0"/>
            <a:pathLst>
              <a:path w="952500" h="573278">
                <a:moveTo>
                  <a:pt x="0" y="573278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3" name="Delta 2">
            <a:extLst>
              <a:ext uri="{FF2B5EF4-FFF2-40B4-BE49-F238E27FC236}">
                <a16:creationId xmlns:a16="http://schemas.microsoft.com/office/drawing/2014/main" id="{51EB60DE-E9E3-3FF2-1B54-8B71ADA98EDD}"/>
              </a:ext>
            </a:extLst>
          </p:cNvPr>
          <p:cNvSpPr txBox="1"/>
          <p:nvPr/>
        </p:nvSpPr>
        <p:spPr>
          <a:xfrm>
            <a:off x="4381500" y="3492373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+10%</a:t>
            </a:r>
          </a:p>
        </p:txBody>
      </p:sp>
    </p:spTree>
    <p:extLst>
      <p:ext uri="{BB962C8B-B14F-4D97-AF65-F5344CB8AC3E}">
        <p14:creationId xmlns:p14="http://schemas.microsoft.com/office/powerpoint/2010/main" val="3712652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24B00-45F2-5B03-A24D-59E37A03F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76E907-BA09-3DF5-E41D-3116D22775BB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A18D73-0334-379D-517C-8ED17D80353D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more efficient chances.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C14E5E-BE21-8C1A-8FCE-11D5765D3D61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number and size of proposals, context-specific.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461858-E6A9-BA75-B0C6-835EF2441267}"/>
              </a:ext>
            </a:extLst>
          </p:cNvPr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1F2D58D-7805-D5E2-D12A-EFB76C450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9" y="2724504"/>
            <a:ext cx="1037300" cy="5186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C376458-5BC5-AA8F-25E3-13F2252FE048}"/>
              </a:ext>
            </a:extLst>
          </p:cNvPr>
          <p:cNvSpPr txBox="1"/>
          <p:nvPr/>
        </p:nvSpPr>
        <p:spPr>
          <a:xfrm>
            <a:off x="1634071" y="2811206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4D90"/>
                </a:solidFill>
              </a:rPr>
              <a:t>× 3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1D0B59-284D-203A-D808-AA859D012E27}"/>
              </a:ext>
            </a:extLst>
          </p:cNvPr>
          <p:cNvCxnSpPr/>
          <p:nvPr/>
        </p:nvCxnSpPr>
        <p:spPr>
          <a:xfrm>
            <a:off x="3814918" y="2564156"/>
            <a:ext cx="0" cy="3057447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357950E-9175-18E3-D024-70378CDDC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9" y="3759662"/>
            <a:ext cx="1037300" cy="5186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4276246-866B-9E93-49E8-2D7577B09BAF}"/>
              </a:ext>
            </a:extLst>
          </p:cNvPr>
          <p:cNvSpPr txBox="1"/>
          <p:nvPr/>
        </p:nvSpPr>
        <p:spPr>
          <a:xfrm>
            <a:off x="1634071" y="3846364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4D90"/>
                </a:solidFill>
              </a:rPr>
              <a:t>×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EAA21C-E7BF-D2C7-805E-667B2A0D38AF}"/>
              </a:ext>
            </a:extLst>
          </p:cNvPr>
          <p:cNvSpPr txBox="1"/>
          <p:nvPr/>
        </p:nvSpPr>
        <p:spPr>
          <a:xfrm>
            <a:off x="2800563" y="3846364"/>
            <a:ext cx="766916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97132"/>
                </a:solidFill>
              </a:rPr>
              <a:t>× 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3456B0-6FE5-5859-09F0-66F2F98E94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905"/>
          <a:stretch>
            <a:fillRect/>
          </a:stretch>
        </p:blipFill>
        <p:spPr>
          <a:xfrm>
            <a:off x="2128595" y="3804577"/>
            <a:ext cx="691632" cy="4544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0FF9978-265E-B6EE-1B1E-98A6DE343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9" y="4794820"/>
            <a:ext cx="1037300" cy="5186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66E1F2A-CC1B-2B40-9AFC-096E48B4E280}"/>
              </a:ext>
            </a:extLst>
          </p:cNvPr>
          <p:cNvSpPr txBox="1"/>
          <p:nvPr/>
        </p:nvSpPr>
        <p:spPr>
          <a:xfrm>
            <a:off x="1634071" y="4881522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4D90"/>
                </a:solidFill>
              </a:rPr>
              <a:t>×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421BA4-0589-61BA-6184-F07A40023C48}"/>
              </a:ext>
            </a:extLst>
          </p:cNvPr>
          <p:cNvSpPr txBox="1"/>
          <p:nvPr/>
        </p:nvSpPr>
        <p:spPr>
          <a:xfrm>
            <a:off x="2800563" y="4881522"/>
            <a:ext cx="766916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97132"/>
                </a:solidFill>
              </a:rPr>
              <a:t>× 2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9F8E6B2-8106-5A93-138D-9FE40D970E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905"/>
          <a:stretch>
            <a:fillRect/>
          </a:stretch>
        </p:blipFill>
        <p:spPr>
          <a:xfrm>
            <a:off x="2128595" y="4839735"/>
            <a:ext cx="691632" cy="454451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D57770-33A2-8FED-9A5B-73C4296C2C3A}"/>
              </a:ext>
            </a:extLst>
          </p:cNvPr>
          <p:cNvGrpSpPr>
            <a:grpSpLocks noChangeAspect="1"/>
          </p:cNvGrpSpPr>
          <p:nvPr/>
        </p:nvGrpSpPr>
        <p:grpSpPr>
          <a:xfrm>
            <a:off x="5466977" y="2555640"/>
            <a:ext cx="1191000" cy="846116"/>
            <a:chOff x="5458968" y="2414016"/>
            <a:chExt cx="2185416" cy="1552574"/>
          </a:xfrm>
        </p:grpSpPr>
        <p:sp>
          <p:nvSpPr>
            <p:cNvPr id="7" name="Shape 13">
              <a:extLst>
                <a:ext uri="{FF2B5EF4-FFF2-40B4-BE49-F238E27FC236}">
                  <a16:creationId xmlns:a16="http://schemas.microsoft.com/office/drawing/2014/main" id="{7854510A-574E-AC88-B9A5-A5A0FC71F3CA}"/>
                </a:ext>
              </a:extLst>
            </p:cNvPr>
            <p:cNvSpPr/>
            <p:nvPr/>
          </p:nvSpPr>
          <p:spPr>
            <a:xfrm>
              <a:off x="5458968" y="2414016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14">
              <a:extLst>
                <a:ext uri="{FF2B5EF4-FFF2-40B4-BE49-F238E27FC236}">
                  <a16:creationId xmlns:a16="http://schemas.microsoft.com/office/drawing/2014/main" id="{6921F263-257A-2067-DCA6-CE44434964A7}"/>
                </a:ext>
              </a:extLst>
            </p:cNvPr>
            <p:cNvSpPr/>
            <p:nvPr/>
          </p:nvSpPr>
          <p:spPr>
            <a:xfrm>
              <a:off x="5458968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357CF640-6517-4959-4CB0-5D4902AB843B}"/>
                </a:ext>
              </a:extLst>
            </p:cNvPr>
            <p:cNvSpPr/>
            <p:nvPr/>
          </p:nvSpPr>
          <p:spPr>
            <a:xfrm>
              <a:off x="6035040" y="2414016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6">
              <a:extLst>
                <a:ext uri="{FF2B5EF4-FFF2-40B4-BE49-F238E27FC236}">
                  <a16:creationId xmlns:a16="http://schemas.microsoft.com/office/drawing/2014/main" id="{B8FBE6EE-8334-D5CB-7A73-E7CD3B835EAD}"/>
                </a:ext>
              </a:extLst>
            </p:cNvPr>
            <p:cNvSpPr/>
            <p:nvPr/>
          </p:nvSpPr>
          <p:spPr>
            <a:xfrm>
              <a:off x="6035040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num</a:t>
              </a:r>
              <a:endParaRPr lang="en-US" sz="1000" dirty="0"/>
            </a:p>
          </p:txBody>
        </p:sp>
        <p:sp>
          <p:nvSpPr>
            <p:cNvPr id="22" name="Shape 17">
              <a:extLst>
                <a:ext uri="{FF2B5EF4-FFF2-40B4-BE49-F238E27FC236}">
                  <a16:creationId xmlns:a16="http://schemas.microsoft.com/office/drawing/2014/main" id="{C4502253-C1C2-3EC1-2E47-E5F9BD8D2D7C}"/>
                </a:ext>
              </a:extLst>
            </p:cNvPr>
            <p:cNvSpPr/>
            <p:nvPr/>
          </p:nvSpPr>
          <p:spPr>
            <a:xfrm>
              <a:off x="6611112" y="2414016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18">
              <a:extLst>
                <a:ext uri="{FF2B5EF4-FFF2-40B4-BE49-F238E27FC236}">
                  <a16:creationId xmlns:a16="http://schemas.microsoft.com/office/drawing/2014/main" id="{A60B4F8B-2DCB-CDB7-5174-F2ADB8316424}"/>
                </a:ext>
              </a:extLst>
            </p:cNvPr>
            <p:cNvSpPr/>
            <p:nvPr/>
          </p:nvSpPr>
          <p:spPr>
            <a:xfrm>
              <a:off x="6611112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]</a:t>
              </a:r>
              <a:endParaRPr lang="en-US" sz="1000" dirty="0"/>
            </a:p>
          </p:txBody>
        </p:sp>
        <p:sp>
          <p:nvSpPr>
            <p:cNvPr id="31" name="Shape 19">
              <a:extLst>
                <a:ext uri="{FF2B5EF4-FFF2-40B4-BE49-F238E27FC236}">
                  <a16:creationId xmlns:a16="http://schemas.microsoft.com/office/drawing/2014/main" id="{3B3F0AEC-30F8-BD42-AD45-ADD08EC459F7}"/>
                </a:ext>
              </a:extLst>
            </p:cNvPr>
            <p:cNvSpPr/>
            <p:nvPr/>
          </p:nvSpPr>
          <p:spPr>
            <a:xfrm>
              <a:off x="7187184" y="2414016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0">
              <a:extLst>
                <a:ext uri="{FF2B5EF4-FFF2-40B4-BE49-F238E27FC236}">
                  <a16:creationId xmlns:a16="http://schemas.microsoft.com/office/drawing/2014/main" id="{F7B503A1-E72D-74A7-DB49-A3E7DB1E3540}"/>
                </a:ext>
              </a:extLst>
            </p:cNvPr>
            <p:cNvSpPr/>
            <p:nvPr/>
          </p:nvSpPr>
          <p:spPr>
            <a:xfrm>
              <a:off x="7187184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:</a:t>
              </a:r>
              <a:endParaRPr lang="en-US" sz="1000" dirty="0"/>
            </a:p>
          </p:txBody>
        </p:sp>
        <p:sp>
          <p:nvSpPr>
            <p:cNvPr id="40" name="Shape 13">
              <a:extLst>
                <a:ext uri="{FF2B5EF4-FFF2-40B4-BE49-F238E27FC236}">
                  <a16:creationId xmlns:a16="http://schemas.microsoft.com/office/drawing/2014/main" id="{D71D9433-122C-4642-AD92-0E5DD98E5E2E}"/>
                </a:ext>
              </a:extLst>
            </p:cNvPr>
            <p:cNvSpPr/>
            <p:nvPr/>
          </p:nvSpPr>
          <p:spPr>
            <a:xfrm>
              <a:off x="5458968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8C2EC954-C8BE-832A-1D41-8F8B50C55C47}"/>
                </a:ext>
              </a:extLst>
            </p:cNvPr>
            <p:cNvSpPr/>
            <p:nvPr/>
          </p:nvSpPr>
          <p:spPr>
            <a:xfrm>
              <a:off x="5458968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47" name="Shape 15">
              <a:extLst>
                <a:ext uri="{FF2B5EF4-FFF2-40B4-BE49-F238E27FC236}">
                  <a16:creationId xmlns:a16="http://schemas.microsoft.com/office/drawing/2014/main" id="{F9C93234-E5F3-B720-7358-308757BCE667}"/>
                </a:ext>
              </a:extLst>
            </p:cNvPr>
            <p:cNvSpPr/>
            <p:nvPr/>
          </p:nvSpPr>
          <p:spPr>
            <a:xfrm>
              <a:off x="6035040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6">
              <a:extLst>
                <a:ext uri="{FF2B5EF4-FFF2-40B4-BE49-F238E27FC236}">
                  <a16:creationId xmlns:a16="http://schemas.microsoft.com/office/drawing/2014/main" id="{F8614D0F-DAC4-827E-48CD-6E3EA7EF939B}"/>
                </a:ext>
              </a:extLst>
            </p:cNvPr>
            <p:cNvSpPr/>
            <p:nvPr/>
          </p:nvSpPr>
          <p:spPr>
            <a:xfrm>
              <a:off x="6035040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</a:t>
              </a:r>
              <a:endParaRPr lang="en-US" sz="1000" dirty="0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DA9D0CB7-8FFD-F64E-CA81-47F9935B09CC}"/>
                </a:ext>
              </a:extLst>
            </p:cNvPr>
            <p:cNvSpPr/>
            <p:nvPr/>
          </p:nvSpPr>
          <p:spPr>
            <a:xfrm>
              <a:off x="6611112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18">
              <a:extLst>
                <a:ext uri="{FF2B5EF4-FFF2-40B4-BE49-F238E27FC236}">
                  <a16:creationId xmlns:a16="http://schemas.microsoft.com/office/drawing/2014/main" id="{F0523114-C545-9412-9BF2-FF84ACF8B9A3}"/>
                </a:ext>
              </a:extLst>
            </p:cNvPr>
            <p:cNvSpPr/>
            <p:nvPr/>
          </p:nvSpPr>
          <p:spPr>
            <a:xfrm>
              <a:off x="6611112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]</a:t>
              </a:r>
              <a:endParaRPr lang="en-US" sz="1000" dirty="0"/>
            </a:p>
          </p:txBody>
        </p:sp>
        <p:sp>
          <p:nvSpPr>
            <p:cNvPr id="55" name="Shape 19">
              <a:extLst>
                <a:ext uri="{FF2B5EF4-FFF2-40B4-BE49-F238E27FC236}">
                  <a16:creationId xmlns:a16="http://schemas.microsoft.com/office/drawing/2014/main" id="{B9EBE920-1D90-58C5-3645-B0B0C8185FA4}"/>
                </a:ext>
              </a:extLst>
            </p:cNvPr>
            <p:cNvSpPr/>
            <p:nvPr/>
          </p:nvSpPr>
          <p:spPr>
            <a:xfrm>
              <a:off x="7187184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20">
              <a:extLst>
                <a:ext uri="{FF2B5EF4-FFF2-40B4-BE49-F238E27FC236}">
                  <a16:creationId xmlns:a16="http://schemas.microsoft.com/office/drawing/2014/main" id="{EFCF3E99-8FC5-2A23-22EA-3EFB5D42A232}"/>
                </a:ext>
              </a:extLst>
            </p:cNvPr>
            <p:cNvSpPr/>
            <p:nvPr/>
          </p:nvSpPr>
          <p:spPr>
            <a:xfrm>
              <a:off x="7187184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:</a:t>
              </a:r>
              <a:endParaRPr lang="en-US" sz="1000" dirty="0"/>
            </a:p>
          </p:txBody>
        </p:sp>
        <p:sp>
          <p:nvSpPr>
            <p:cNvPr id="59" name="Shape 13">
              <a:extLst>
                <a:ext uri="{FF2B5EF4-FFF2-40B4-BE49-F238E27FC236}">
                  <a16:creationId xmlns:a16="http://schemas.microsoft.com/office/drawing/2014/main" id="{CFC9A8EA-6285-1703-CB0A-A7CD1F0D3BA4}"/>
                </a:ext>
              </a:extLst>
            </p:cNvPr>
            <p:cNvSpPr/>
            <p:nvPr/>
          </p:nvSpPr>
          <p:spPr>
            <a:xfrm>
              <a:off x="5458968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14">
              <a:extLst>
                <a:ext uri="{FF2B5EF4-FFF2-40B4-BE49-F238E27FC236}">
                  <a16:creationId xmlns:a16="http://schemas.microsoft.com/office/drawing/2014/main" id="{A50AFD76-7EA4-A692-3490-4E82E86F2423}"/>
                </a:ext>
              </a:extLst>
            </p:cNvPr>
            <p:cNvSpPr/>
            <p:nvPr/>
          </p:nvSpPr>
          <p:spPr>
            <a:xfrm>
              <a:off x="5458968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63" name="Shape 15">
              <a:extLst>
                <a:ext uri="{FF2B5EF4-FFF2-40B4-BE49-F238E27FC236}">
                  <a16:creationId xmlns:a16="http://schemas.microsoft.com/office/drawing/2014/main" id="{26A51864-2512-62CB-CF88-49F507FA016A}"/>
                </a:ext>
              </a:extLst>
            </p:cNvPr>
            <p:cNvSpPr/>
            <p:nvPr/>
          </p:nvSpPr>
          <p:spPr>
            <a:xfrm>
              <a:off x="6035040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16">
              <a:extLst>
                <a:ext uri="{FF2B5EF4-FFF2-40B4-BE49-F238E27FC236}">
                  <a16:creationId xmlns:a16="http://schemas.microsoft.com/office/drawing/2014/main" id="{69BBA0CF-5F6D-515E-F937-F64771776ABC}"/>
                </a:ext>
              </a:extLst>
            </p:cNvPr>
            <p:cNvSpPr/>
            <p:nvPr/>
          </p:nvSpPr>
          <p:spPr>
            <a:xfrm>
              <a:off x="6035040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</a:t>
              </a:r>
              <a:endParaRPr lang="en-US" sz="1000" dirty="0"/>
            </a:p>
          </p:txBody>
        </p:sp>
        <p:sp>
          <p:nvSpPr>
            <p:cNvPr id="67" name="Shape 17">
              <a:extLst>
                <a:ext uri="{FF2B5EF4-FFF2-40B4-BE49-F238E27FC236}">
                  <a16:creationId xmlns:a16="http://schemas.microsoft.com/office/drawing/2014/main" id="{4AC74FC6-0FDF-35FA-4B93-FFA5258A769F}"/>
                </a:ext>
              </a:extLst>
            </p:cNvPr>
            <p:cNvSpPr/>
            <p:nvPr/>
          </p:nvSpPr>
          <p:spPr>
            <a:xfrm>
              <a:off x="6611112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18">
              <a:extLst>
                <a:ext uri="{FF2B5EF4-FFF2-40B4-BE49-F238E27FC236}">
                  <a16:creationId xmlns:a16="http://schemas.microsoft.com/office/drawing/2014/main" id="{45D0DCBF-5051-949B-AD73-D93D6957EE02}"/>
                </a:ext>
              </a:extLst>
            </p:cNvPr>
            <p:cNvSpPr/>
            <p:nvPr/>
          </p:nvSpPr>
          <p:spPr>
            <a:xfrm>
              <a:off x="6611112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cs typeface="Courier New" pitchFamily="34" charset="-120"/>
                </a:rPr>
                <a:t>)</a:t>
              </a:r>
              <a:endParaRPr lang="en-US" sz="1000" dirty="0"/>
            </a:p>
          </p:txBody>
        </p:sp>
        <p:sp>
          <p:nvSpPr>
            <p:cNvPr id="71" name="Shape 19">
              <a:extLst>
                <a:ext uri="{FF2B5EF4-FFF2-40B4-BE49-F238E27FC236}">
                  <a16:creationId xmlns:a16="http://schemas.microsoft.com/office/drawing/2014/main" id="{59D60A34-1F84-DECF-599F-DA8725D39E32}"/>
                </a:ext>
              </a:extLst>
            </p:cNvPr>
            <p:cNvSpPr/>
            <p:nvPr/>
          </p:nvSpPr>
          <p:spPr>
            <a:xfrm>
              <a:off x="7187184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20">
              <a:extLst>
                <a:ext uri="{FF2B5EF4-FFF2-40B4-BE49-F238E27FC236}">
                  <a16:creationId xmlns:a16="http://schemas.microsoft.com/office/drawing/2014/main" id="{26F85285-29E2-B65B-ACFD-6F4A1AFBC113}"/>
                </a:ext>
              </a:extLst>
            </p:cNvPr>
            <p:cNvSpPr/>
            <p:nvPr/>
          </p:nvSpPr>
          <p:spPr>
            <a:xfrm>
              <a:off x="7187184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:</a:t>
              </a:r>
              <a:endParaRPr lang="en-US" sz="10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1EF3EBE-F4DA-9EAF-8092-5EE3281E840E}"/>
              </a:ext>
            </a:extLst>
          </p:cNvPr>
          <p:cNvGrpSpPr>
            <a:grpSpLocks noChangeAspect="1"/>
          </p:cNvGrpSpPr>
          <p:nvPr/>
        </p:nvGrpSpPr>
        <p:grpSpPr>
          <a:xfrm>
            <a:off x="5465453" y="3664310"/>
            <a:ext cx="1191000" cy="846116"/>
            <a:chOff x="5458968" y="2414016"/>
            <a:chExt cx="2185416" cy="1552574"/>
          </a:xfrm>
        </p:grpSpPr>
        <p:sp>
          <p:nvSpPr>
            <p:cNvPr id="76" name="Shape 13">
              <a:extLst>
                <a:ext uri="{FF2B5EF4-FFF2-40B4-BE49-F238E27FC236}">
                  <a16:creationId xmlns:a16="http://schemas.microsoft.com/office/drawing/2014/main" id="{F3252957-C5EE-9BE4-2375-84DD926D2728}"/>
                </a:ext>
              </a:extLst>
            </p:cNvPr>
            <p:cNvSpPr/>
            <p:nvPr/>
          </p:nvSpPr>
          <p:spPr>
            <a:xfrm>
              <a:off x="5458968" y="2414016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14">
              <a:extLst>
                <a:ext uri="{FF2B5EF4-FFF2-40B4-BE49-F238E27FC236}">
                  <a16:creationId xmlns:a16="http://schemas.microsoft.com/office/drawing/2014/main" id="{BDB50174-85FD-2EE2-1AFB-E33A09AE145A}"/>
                </a:ext>
              </a:extLst>
            </p:cNvPr>
            <p:cNvSpPr/>
            <p:nvPr/>
          </p:nvSpPr>
          <p:spPr>
            <a:xfrm>
              <a:off x="5458968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78" name="Shape 15">
              <a:extLst>
                <a:ext uri="{FF2B5EF4-FFF2-40B4-BE49-F238E27FC236}">
                  <a16:creationId xmlns:a16="http://schemas.microsoft.com/office/drawing/2014/main" id="{B588DCF5-A14B-6490-2F6C-647249615982}"/>
                </a:ext>
              </a:extLst>
            </p:cNvPr>
            <p:cNvSpPr/>
            <p:nvPr/>
          </p:nvSpPr>
          <p:spPr>
            <a:xfrm>
              <a:off x="6035040" y="2414016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 16">
              <a:extLst>
                <a:ext uri="{FF2B5EF4-FFF2-40B4-BE49-F238E27FC236}">
                  <a16:creationId xmlns:a16="http://schemas.microsoft.com/office/drawing/2014/main" id="{1BBD7DEC-89BE-A519-9287-32088A0F49C7}"/>
                </a:ext>
              </a:extLst>
            </p:cNvPr>
            <p:cNvSpPr/>
            <p:nvPr/>
          </p:nvSpPr>
          <p:spPr>
            <a:xfrm>
              <a:off x="6035040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num</a:t>
              </a:r>
              <a:endParaRPr lang="en-US" sz="1000" dirty="0"/>
            </a:p>
          </p:txBody>
        </p:sp>
        <p:sp>
          <p:nvSpPr>
            <p:cNvPr id="84" name="Shape 13">
              <a:extLst>
                <a:ext uri="{FF2B5EF4-FFF2-40B4-BE49-F238E27FC236}">
                  <a16:creationId xmlns:a16="http://schemas.microsoft.com/office/drawing/2014/main" id="{0ADE69E3-4250-5D67-09BD-46F10808C401}"/>
                </a:ext>
              </a:extLst>
            </p:cNvPr>
            <p:cNvSpPr/>
            <p:nvPr/>
          </p:nvSpPr>
          <p:spPr>
            <a:xfrm>
              <a:off x="5458968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14">
              <a:extLst>
                <a:ext uri="{FF2B5EF4-FFF2-40B4-BE49-F238E27FC236}">
                  <a16:creationId xmlns:a16="http://schemas.microsoft.com/office/drawing/2014/main" id="{218905F2-845B-3D4E-E33E-AC65C83D1840}"/>
                </a:ext>
              </a:extLst>
            </p:cNvPr>
            <p:cNvSpPr/>
            <p:nvPr/>
          </p:nvSpPr>
          <p:spPr>
            <a:xfrm>
              <a:off x="5458968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86" name="Shape 15">
              <a:extLst>
                <a:ext uri="{FF2B5EF4-FFF2-40B4-BE49-F238E27FC236}">
                  <a16:creationId xmlns:a16="http://schemas.microsoft.com/office/drawing/2014/main" id="{52D39532-4DC6-2ECF-4B2E-04C5DF4D0270}"/>
                </a:ext>
              </a:extLst>
            </p:cNvPr>
            <p:cNvSpPr/>
            <p:nvPr/>
          </p:nvSpPr>
          <p:spPr>
            <a:xfrm>
              <a:off x="6035040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16">
              <a:extLst>
                <a:ext uri="{FF2B5EF4-FFF2-40B4-BE49-F238E27FC236}">
                  <a16:creationId xmlns:a16="http://schemas.microsoft.com/office/drawing/2014/main" id="{B982987D-0EEE-016D-C10C-38D5C4F47F3D}"/>
                </a:ext>
              </a:extLst>
            </p:cNvPr>
            <p:cNvSpPr/>
            <p:nvPr/>
          </p:nvSpPr>
          <p:spPr>
            <a:xfrm>
              <a:off x="6035040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</a:t>
              </a:r>
              <a:endParaRPr lang="en-US" sz="1000" dirty="0"/>
            </a:p>
          </p:txBody>
        </p:sp>
        <p:sp>
          <p:nvSpPr>
            <p:cNvPr id="88" name="Shape 17">
              <a:extLst>
                <a:ext uri="{FF2B5EF4-FFF2-40B4-BE49-F238E27FC236}">
                  <a16:creationId xmlns:a16="http://schemas.microsoft.com/office/drawing/2014/main" id="{0E8FE9A9-BD7D-817C-2001-B3667C21E235}"/>
                </a:ext>
              </a:extLst>
            </p:cNvPr>
            <p:cNvSpPr/>
            <p:nvPr/>
          </p:nvSpPr>
          <p:spPr>
            <a:xfrm>
              <a:off x="6611112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 18">
              <a:extLst>
                <a:ext uri="{FF2B5EF4-FFF2-40B4-BE49-F238E27FC236}">
                  <a16:creationId xmlns:a16="http://schemas.microsoft.com/office/drawing/2014/main" id="{4B0A3425-088A-5059-A996-45F5E858EAD2}"/>
                </a:ext>
              </a:extLst>
            </p:cNvPr>
            <p:cNvSpPr/>
            <p:nvPr/>
          </p:nvSpPr>
          <p:spPr>
            <a:xfrm>
              <a:off x="6611112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]</a:t>
              </a:r>
              <a:endParaRPr lang="en-US" sz="1000" dirty="0"/>
            </a:p>
          </p:txBody>
        </p:sp>
        <p:sp>
          <p:nvSpPr>
            <p:cNvPr id="90" name="Shape 19">
              <a:extLst>
                <a:ext uri="{FF2B5EF4-FFF2-40B4-BE49-F238E27FC236}">
                  <a16:creationId xmlns:a16="http://schemas.microsoft.com/office/drawing/2014/main" id="{9159E4B4-6ED7-D7EC-459D-B88E0FE00A9C}"/>
                </a:ext>
              </a:extLst>
            </p:cNvPr>
            <p:cNvSpPr/>
            <p:nvPr/>
          </p:nvSpPr>
          <p:spPr>
            <a:xfrm>
              <a:off x="7187184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20">
              <a:extLst>
                <a:ext uri="{FF2B5EF4-FFF2-40B4-BE49-F238E27FC236}">
                  <a16:creationId xmlns:a16="http://schemas.microsoft.com/office/drawing/2014/main" id="{A27F4E9F-3466-46B4-3BF6-90534BF2BEE0}"/>
                </a:ext>
              </a:extLst>
            </p:cNvPr>
            <p:cNvSpPr/>
            <p:nvPr/>
          </p:nvSpPr>
          <p:spPr>
            <a:xfrm>
              <a:off x="7187184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:</a:t>
              </a:r>
              <a:endParaRPr lang="en-US" sz="1000" dirty="0"/>
            </a:p>
          </p:txBody>
        </p:sp>
        <p:sp>
          <p:nvSpPr>
            <p:cNvPr id="92" name="Shape 13">
              <a:extLst>
                <a:ext uri="{FF2B5EF4-FFF2-40B4-BE49-F238E27FC236}">
                  <a16:creationId xmlns:a16="http://schemas.microsoft.com/office/drawing/2014/main" id="{721C75DA-2E85-7C20-3EC2-EB37C48B5C71}"/>
                </a:ext>
              </a:extLst>
            </p:cNvPr>
            <p:cNvSpPr/>
            <p:nvPr/>
          </p:nvSpPr>
          <p:spPr>
            <a:xfrm>
              <a:off x="5458968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 14">
              <a:extLst>
                <a:ext uri="{FF2B5EF4-FFF2-40B4-BE49-F238E27FC236}">
                  <a16:creationId xmlns:a16="http://schemas.microsoft.com/office/drawing/2014/main" id="{28924303-737B-2A30-B124-9D89127CC708}"/>
                </a:ext>
              </a:extLst>
            </p:cNvPr>
            <p:cNvSpPr/>
            <p:nvPr/>
          </p:nvSpPr>
          <p:spPr>
            <a:xfrm>
              <a:off x="5458968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94" name="Shape 15">
              <a:extLst>
                <a:ext uri="{FF2B5EF4-FFF2-40B4-BE49-F238E27FC236}">
                  <a16:creationId xmlns:a16="http://schemas.microsoft.com/office/drawing/2014/main" id="{67F7D0EB-B3CD-AD72-1C7E-BED614E180AC}"/>
                </a:ext>
              </a:extLst>
            </p:cNvPr>
            <p:cNvSpPr/>
            <p:nvPr/>
          </p:nvSpPr>
          <p:spPr>
            <a:xfrm>
              <a:off x="6035040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16">
              <a:extLst>
                <a:ext uri="{FF2B5EF4-FFF2-40B4-BE49-F238E27FC236}">
                  <a16:creationId xmlns:a16="http://schemas.microsoft.com/office/drawing/2014/main" id="{1A495CFB-7D7A-AADB-1C17-E9DB78B75D34}"/>
                </a:ext>
              </a:extLst>
            </p:cNvPr>
            <p:cNvSpPr/>
            <p:nvPr/>
          </p:nvSpPr>
          <p:spPr>
            <a:xfrm>
              <a:off x="6035040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</a:t>
              </a:r>
              <a:endParaRPr lang="en-US" sz="1000" dirty="0"/>
            </a:p>
          </p:txBody>
        </p:sp>
        <p:sp>
          <p:nvSpPr>
            <p:cNvPr id="96" name="Shape 17">
              <a:extLst>
                <a:ext uri="{FF2B5EF4-FFF2-40B4-BE49-F238E27FC236}">
                  <a16:creationId xmlns:a16="http://schemas.microsoft.com/office/drawing/2014/main" id="{222739E0-D50C-EF2B-742A-A19E41AFAD23}"/>
                </a:ext>
              </a:extLst>
            </p:cNvPr>
            <p:cNvSpPr/>
            <p:nvPr/>
          </p:nvSpPr>
          <p:spPr>
            <a:xfrm>
              <a:off x="6611112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 18">
              <a:extLst>
                <a:ext uri="{FF2B5EF4-FFF2-40B4-BE49-F238E27FC236}">
                  <a16:creationId xmlns:a16="http://schemas.microsoft.com/office/drawing/2014/main" id="{6F1FF14E-03DE-6BCA-F89B-52900F31DF88}"/>
                </a:ext>
              </a:extLst>
            </p:cNvPr>
            <p:cNvSpPr/>
            <p:nvPr/>
          </p:nvSpPr>
          <p:spPr>
            <a:xfrm>
              <a:off x="6611112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cs typeface="Courier New" pitchFamily="34" charset="-120"/>
                </a:rPr>
                <a:t>)</a:t>
              </a:r>
              <a:endParaRPr lang="en-US" sz="1000" dirty="0"/>
            </a:p>
          </p:txBody>
        </p:sp>
        <p:sp>
          <p:nvSpPr>
            <p:cNvPr id="98" name="Shape 19">
              <a:extLst>
                <a:ext uri="{FF2B5EF4-FFF2-40B4-BE49-F238E27FC236}">
                  <a16:creationId xmlns:a16="http://schemas.microsoft.com/office/drawing/2014/main" id="{59873A62-613B-24FB-5B96-9785BA29E23E}"/>
                </a:ext>
              </a:extLst>
            </p:cNvPr>
            <p:cNvSpPr/>
            <p:nvPr/>
          </p:nvSpPr>
          <p:spPr>
            <a:xfrm>
              <a:off x="7187184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 20">
              <a:extLst>
                <a:ext uri="{FF2B5EF4-FFF2-40B4-BE49-F238E27FC236}">
                  <a16:creationId xmlns:a16="http://schemas.microsoft.com/office/drawing/2014/main" id="{7BE41A4F-FD98-C298-9B2E-7A3D35C7B210}"/>
                </a:ext>
              </a:extLst>
            </p:cNvPr>
            <p:cNvSpPr/>
            <p:nvPr/>
          </p:nvSpPr>
          <p:spPr>
            <a:xfrm>
              <a:off x="7187184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:</a:t>
              </a:r>
              <a:endParaRPr lang="en-US" sz="1000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7B47733-B5C1-E4E1-D128-8677C584E589}"/>
              </a:ext>
            </a:extLst>
          </p:cNvPr>
          <p:cNvGrpSpPr>
            <a:grpSpLocks noChangeAspect="1"/>
          </p:cNvGrpSpPr>
          <p:nvPr/>
        </p:nvGrpSpPr>
        <p:grpSpPr>
          <a:xfrm>
            <a:off x="5465453" y="4765117"/>
            <a:ext cx="1191000" cy="846116"/>
            <a:chOff x="5458968" y="2414016"/>
            <a:chExt cx="2185416" cy="1552574"/>
          </a:xfrm>
        </p:grpSpPr>
        <p:sp>
          <p:nvSpPr>
            <p:cNvPr id="101" name="Shape 13">
              <a:extLst>
                <a:ext uri="{FF2B5EF4-FFF2-40B4-BE49-F238E27FC236}">
                  <a16:creationId xmlns:a16="http://schemas.microsoft.com/office/drawing/2014/main" id="{093DD5B6-1350-5882-7888-A97EB810A9A0}"/>
                </a:ext>
              </a:extLst>
            </p:cNvPr>
            <p:cNvSpPr/>
            <p:nvPr/>
          </p:nvSpPr>
          <p:spPr>
            <a:xfrm>
              <a:off x="5458968" y="2414016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 14">
              <a:extLst>
                <a:ext uri="{FF2B5EF4-FFF2-40B4-BE49-F238E27FC236}">
                  <a16:creationId xmlns:a16="http://schemas.microsoft.com/office/drawing/2014/main" id="{8863A19B-E486-DC92-5711-1F92CDC16471}"/>
                </a:ext>
              </a:extLst>
            </p:cNvPr>
            <p:cNvSpPr/>
            <p:nvPr/>
          </p:nvSpPr>
          <p:spPr>
            <a:xfrm>
              <a:off x="5458968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103" name="Shape 15">
              <a:extLst>
                <a:ext uri="{FF2B5EF4-FFF2-40B4-BE49-F238E27FC236}">
                  <a16:creationId xmlns:a16="http://schemas.microsoft.com/office/drawing/2014/main" id="{D7DEEC48-B7BE-292D-F011-89B5E4F8878A}"/>
                </a:ext>
              </a:extLst>
            </p:cNvPr>
            <p:cNvSpPr/>
            <p:nvPr/>
          </p:nvSpPr>
          <p:spPr>
            <a:xfrm>
              <a:off x="6035040" y="2414016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 16">
              <a:extLst>
                <a:ext uri="{FF2B5EF4-FFF2-40B4-BE49-F238E27FC236}">
                  <a16:creationId xmlns:a16="http://schemas.microsoft.com/office/drawing/2014/main" id="{E4936642-04F2-398C-43B3-7473072A7878}"/>
                </a:ext>
              </a:extLst>
            </p:cNvPr>
            <p:cNvSpPr/>
            <p:nvPr/>
          </p:nvSpPr>
          <p:spPr>
            <a:xfrm>
              <a:off x="6035040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num</a:t>
              </a:r>
              <a:endParaRPr lang="en-US" sz="1000" dirty="0"/>
            </a:p>
          </p:txBody>
        </p:sp>
        <p:sp>
          <p:nvSpPr>
            <p:cNvPr id="106" name="Text 18">
              <a:extLst>
                <a:ext uri="{FF2B5EF4-FFF2-40B4-BE49-F238E27FC236}">
                  <a16:creationId xmlns:a16="http://schemas.microsoft.com/office/drawing/2014/main" id="{5996CF5C-0011-9073-431B-87D0762B9D0E}"/>
                </a:ext>
              </a:extLst>
            </p:cNvPr>
            <p:cNvSpPr/>
            <p:nvPr/>
          </p:nvSpPr>
          <p:spPr>
            <a:xfrm>
              <a:off x="6611112" y="2414016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00" dirty="0"/>
            </a:p>
          </p:txBody>
        </p:sp>
        <p:sp>
          <p:nvSpPr>
            <p:cNvPr id="109" name="Shape 13">
              <a:extLst>
                <a:ext uri="{FF2B5EF4-FFF2-40B4-BE49-F238E27FC236}">
                  <a16:creationId xmlns:a16="http://schemas.microsoft.com/office/drawing/2014/main" id="{97AF27F2-8EA3-5822-0A0F-E06A319688A6}"/>
                </a:ext>
              </a:extLst>
            </p:cNvPr>
            <p:cNvSpPr/>
            <p:nvPr/>
          </p:nvSpPr>
          <p:spPr>
            <a:xfrm>
              <a:off x="5458968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 14">
              <a:extLst>
                <a:ext uri="{FF2B5EF4-FFF2-40B4-BE49-F238E27FC236}">
                  <a16:creationId xmlns:a16="http://schemas.microsoft.com/office/drawing/2014/main" id="{7A2ECDDD-B613-EABD-17A6-D9296DE34353}"/>
                </a:ext>
              </a:extLst>
            </p:cNvPr>
            <p:cNvSpPr/>
            <p:nvPr/>
          </p:nvSpPr>
          <p:spPr>
            <a:xfrm>
              <a:off x="5458968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111" name="Shape 15">
              <a:extLst>
                <a:ext uri="{FF2B5EF4-FFF2-40B4-BE49-F238E27FC236}">
                  <a16:creationId xmlns:a16="http://schemas.microsoft.com/office/drawing/2014/main" id="{2AF8F872-4CBE-2813-C2DA-B96497F6656B}"/>
                </a:ext>
              </a:extLst>
            </p:cNvPr>
            <p:cNvSpPr/>
            <p:nvPr/>
          </p:nvSpPr>
          <p:spPr>
            <a:xfrm>
              <a:off x="6035040" y="2952559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16">
              <a:extLst>
                <a:ext uri="{FF2B5EF4-FFF2-40B4-BE49-F238E27FC236}">
                  <a16:creationId xmlns:a16="http://schemas.microsoft.com/office/drawing/2014/main" id="{D8D785CD-1672-EEA3-8974-932E8BA30470}"/>
                </a:ext>
              </a:extLst>
            </p:cNvPr>
            <p:cNvSpPr/>
            <p:nvPr/>
          </p:nvSpPr>
          <p:spPr>
            <a:xfrm>
              <a:off x="6035040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</a:t>
              </a:r>
              <a:endParaRPr lang="en-US" sz="1000" dirty="0"/>
            </a:p>
          </p:txBody>
        </p:sp>
        <p:sp>
          <p:nvSpPr>
            <p:cNvPr id="114" name="Text 18">
              <a:extLst>
                <a:ext uri="{FF2B5EF4-FFF2-40B4-BE49-F238E27FC236}">
                  <a16:creationId xmlns:a16="http://schemas.microsoft.com/office/drawing/2014/main" id="{D3B23BB2-043D-9D52-4B1F-C3CEE0EACE42}"/>
                </a:ext>
              </a:extLst>
            </p:cNvPr>
            <p:cNvSpPr/>
            <p:nvPr/>
          </p:nvSpPr>
          <p:spPr>
            <a:xfrm>
              <a:off x="6611112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00" dirty="0"/>
            </a:p>
          </p:txBody>
        </p:sp>
        <p:sp>
          <p:nvSpPr>
            <p:cNvPr id="116" name="Text 20">
              <a:extLst>
                <a:ext uri="{FF2B5EF4-FFF2-40B4-BE49-F238E27FC236}">
                  <a16:creationId xmlns:a16="http://schemas.microsoft.com/office/drawing/2014/main" id="{EF21A730-21D6-809C-FA03-1321B6411959}"/>
                </a:ext>
              </a:extLst>
            </p:cNvPr>
            <p:cNvSpPr/>
            <p:nvPr/>
          </p:nvSpPr>
          <p:spPr>
            <a:xfrm>
              <a:off x="7187184" y="2952559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000" dirty="0"/>
            </a:p>
          </p:txBody>
        </p:sp>
        <p:sp>
          <p:nvSpPr>
            <p:cNvPr id="117" name="Shape 13">
              <a:extLst>
                <a:ext uri="{FF2B5EF4-FFF2-40B4-BE49-F238E27FC236}">
                  <a16:creationId xmlns:a16="http://schemas.microsoft.com/office/drawing/2014/main" id="{F6594FDB-9413-6E9D-AE8B-350BFADB7609}"/>
                </a:ext>
              </a:extLst>
            </p:cNvPr>
            <p:cNvSpPr/>
            <p:nvPr/>
          </p:nvSpPr>
          <p:spPr>
            <a:xfrm>
              <a:off x="5458968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 14">
              <a:extLst>
                <a:ext uri="{FF2B5EF4-FFF2-40B4-BE49-F238E27FC236}">
                  <a16:creationId xmlns:a16="http://schemas.microsoft.com/office/drawing/2014/main" id="{EC246506-BD6F-7A4C-D202-B2895E1E1263}"/>
                </a:ext>
              </a:extLst>
            </p:cNvPr>
            <p:cNvSpPr/>
            <p:nvPr/>
          </p:nvSpPr>
          <p:spPr>
            <a:xfrm>
              <a:off x="5458968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endParaRPr lang="en-US" sz="1000" dirty="0"/>
            </a:p>
          </p:txBody>
        </p:sp>
        <p:sp>
          <p:nvSpPr>
            <p:cNvPr id="119" name="Shape 15">
              <a:extLst>
                <a:ext uri="{FF2B5EF4-FFF2-40B4-BE49-F238E27FC236}">
                  <a16:creationId xmlns:a16="http://schemas.microsoft.com/office/drawing/2014/main" id="{9A82660A-C263-D937-5EE9-BE81DAF61240}"/>
                </a:ext>
              </a:extLst>
            </p:cNvPr>
            <p:cNvSpPr/>
            <p:nvPr/>
          </p:nvSpPr>
          <p:spPr>
            <a:xfrm>
              <a:off x="6035040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 16">
              <a:extLst>
                <a:ext uri="{FF2B5EF4-FFF2-40B4-BE49-F238E27FC236}">
                  <a16:creationId xmlns:a16="http://schemas.microsoft.com/office/drawing/2014/main" id="{13925523-9FD2-F57F-B4AB-59C560ED5BE4}"/>
                </a:ext>
              </a:extLst>
            </p:cNvPr>
            <p:cNvSpPr/>
            <p:nvPr/>
          </p:nvSpPr>
          <p:spPr>
            <a:xfrm>
              <a:off x="6035040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</a:t>
              </a:r>
              <a:endParaRPr lang="en-US" sz="1000" dirty="0"/>
            </a:p>
          </p:txBody>
        </p:sp>
        <p:sp>
          <p:nvSpPr>
            <p:cNvPr id="121" name="Shape 17">
              <a:extLst>
                <a:ext uri="{FF2B5EF4-FFF2-40B4-BE49-F238E27FC236}">
                  <a16:creationId xmlns:a16="http://schemas.microsoft.com/office/drawing/2014/main" id="{98BA0E0A-2532-80C0-AB8D-05865F1D977F}"/>
                </a:ext>
              </a:extLst>
            </p:cNvPr>
            <p:cNvSpPr/>
            <p:nvPr/>
          </p:nvSpPr>
          <p:spPr>
            <a:xfrm>
              <a:off x="6611112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 18">
              <a:extLst>
                <a:ext uri="{FF2B5EF4-FFF2-40B4-BE49-F238E27FC236}">
                  <a16:creationId xmlns:a16="http://schemas.microsoft.com/office/drawing/2014/main" id="{6AE42F2C-834A-CB7B-DEAC-B8C2B69AB6DE}"/>
                </a:ext>
              </a:extLst>
            </p:cNvPr>
            <p:cNvSpPr/>
            <p:nvPr/>
          </p:nvSpPr>
          <p:spPr>
            <a:xfrm>
              <a:off x="6611112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cs typeface="Courier New" pitchFamily="34" charset="-120"/>
                </a:rPr>
                <a:t>)</a:t>
              </a:r>
              <a:endParaRPr lang="en-US" sz="1000" dirty="0"/>
            </a:p>
          </p:txBody>
        </p:sp>
        <p:sp>
          <p:nvSpPr>
            <p:cNvPr id="123" name="Shape 19">
              <a:extLst>
                <a:ext uri="{FF2B5EF4-FFF2-40B4-BE49-F238E27FC236}">
                  <a16:creationId xmlns:a16="http://schemas.microsoft.com/office/drawing/2014/main" id="{876CD3FB-AD7A-5D66-3C49-39D46B28CBF3}"/>
                </a:ext>
              </a:extLst>
            </p:cNvPr>
            <p:cNvSpPr/>
            <p:nvPr/>
          </p:nvSpPr>
          <p:spPr>
            <a:xfrm>
              <a:off x="7187184" y="3491102"/>
              <a:ext cx="457200" cy="475488"/>
            </a:xfrm>
            <a:prstGeom prst="roundRect">
              <a:avLst>
                <a:gd name="adj" fmla="val 12000"/>
              </a:avLst>
            </a:prstGeom>
            <a:solidFill>
              <a:srgbClr val="D6EEFB"/>
            </a:solidFill>
            <a:ln w="15875">
              <a:solidFill>
                <a:srgbClr val="6EC1E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Text 20">
              <a:extLst>
                <a:ext uri="{FF2B5EF4-FFF2-40B4-BE49-F238E27FC236}">
                  <a16:creationId xmlns:a16="http://schemas.microsoft.com/office/drawing/2014/main" id="{2816C641-5AA8-F78E-CBBD-32E054E0F369}"/>
                </a:ext>
              </a:extLst>
            </p:cNvPr>
            <p:cNvSpPr/>
            <p:nvPr/>
          </p:nvSpPr>
          <p:spPr>
            <a:xfrm>
              <a:off x="7187184" y="3491102"/>
              <a:ext cx="457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7F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: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295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FAA3F-272A-7E19-1785-89315080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E9F624-CD5C-C4A5-85EB-EA622E9C4726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331111-7D8A-9AF6-860F-E2A9EDB8EEA4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more efficient chances.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FC8FBA-0F6D-DDAA-B7CF-1FD6274AE659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number and size of proposals, context-specific.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FB60CFB-6267-2C25-4D92-F0A6B3AC9DB0}"/>
              </a:ext>
            </a:extLst>
          </p:cNvPr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325C876-D202-CD44-82C9-970F8DF1F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9" y="2724504"/>
            <a:ext cx="1037300" cy="5186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652128E-F981-D47A-DA0D-94E602D9EF99}"/>
              </a:ext>
            </a:extLst>
          </p:cNvPr>
          <p:cNvSpPr txBox="1"/>
          <p:nvPr/>
        </p:nvSpPr>
        <p:spPr>
          <a:xfrm>
            <a:off x="1634071" y="2811206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4D90"/>
                </a:solidFill>
              </a:rPr>
              <a:t>× 50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1BB3CB-4E29-10B9-05C3-6DC3A67E993E}"/>
              </a:ext>
            </a:extLst>
          </p:cNvPr>
          <p:cNvCxnSpPr/>
          <p:nvPr/>
        </p:nvCxnSpPr>
        <p:spPr>
          <a:xfrm>
            <a:off x="3814918" y="2564156"/>
            <a:ext cx="0" cy="3057447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6396412-D2B8-2D1A-E42A-DB3BDFEAB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9" y="3759662"/>
            <a:ext cx="1037300" cy="5186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6C2FAA-ED06-BEB9-F0F9-A89A3EA0B06F}"/>
              </a:ext>
            </a:extLst>
          </p:cNvPr>
          <p:cNvSpPr txBox="1"/>
          <p:nvPr/>
        </p:nvSpPr>
        <p:spPr>
          <a:xfrm>
            <a:off x="1634071" y="3846364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4D90"/>
                </a:solidFill>
              </a:rPr>
              <a:t>× 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965BED-DF0A-8AAE-7683-4C8485611AA0}"/>
              </a:ext>
            </a:extLst>
          </p:cNvPr>
          <p:cNvSpPr txBox="1"/>
          <p:nvPr/>
        </p:nvSpPr>
        <p:spPr>
          <a:xfrm>
            <a:off x="2800563" y="3846364"/>
            <a:ext cx="766916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97132"/>
                </a:solidFill>
              </a:rPr>
              <a:t>× 75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8714133-B1F6-D780-3ACD-A88DD84C05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905"/>
          <a:stretch>
            <a:fillRect/>
          </a:stretch>
        </p:blipFill>
        <p:spPr>
          <a:xfrm>
            <a:off x="2128595" y="3804577"/>
            <a:ext cx="691632" cy="4544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6E22D7-EEBC-771E-AA63-EEBF1E96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9" y="4794820"/>
            <a:ext cx="1037300" cy="5186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D992844-0FCC-31EE-2BDD-9A6EEDABA048}"/>
              </a:ext>
            </a:extLst>
          </p:cNvPr>
          <p:cNvSpPr txBox="1"/>
          <p:nvPr/>
        </p:nvSpPr>
        <p:spPr>
          <a:xfrm>
            <a:off x="1634071" y="4881522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4D90"/>
                </a:solidFill>
              </a:rPr>
              <a:t>× 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10410F-007C-6976-D4CE-5BE44303AB74}"/>
              </a:ext>
            </a:extLst>
          </p:cNvPr>
          <p:cNvSpPr txBox="1"/>
          <p:nvPr/>
        </p:nvSpPr>
        <p:spPr>
          <a:xfrm>
            <a:off x="2800563" y="4881522"/>
            <a:ext cx="766916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97132"/>
                </a:solidFill>
              </a:rPr>
              <a:t>× 135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2A4B2AC-35DE-FE74-8ABB-70210F5D08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905"/>
          <a:stretch>
            <a:fillRect/>
          </a:stretch>
        </p:blipFill>
        <p:spPr>
          <a:xfrm>
            <a:off x="2128595" y="4839735"/>
            <a:ext cx="691632" cy="454451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5EC645D-E39B-6422-587F-5131E7B443AF}"/>
              </a:ext>
            </a:extLst>
          </p:cNvPr>
          <p:cNvCxnSpPr/>
          <p:nvPr/>
        </p:nvCxnSpPr>
        <p:spPr>
          <a:xfrm>
            <a:off x="8023138" y="2564156"/>
            <a:ext cx="0" cy="3057447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946C380-9B8F-DDF3-736A-F4655CF22FED}"/>
              </a:ext>
            </a:extLst>
          </p:cNvPr>
          <p:cNvSpPr txBox="1"/>
          <p:nvPr/>
        </p:nvSpPr>
        <p:spPr>
          <a:xfrm>
            <a:off x="8377083" y="2672706"/>
            <a:ext cx="2920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easy: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summarization, translation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5D01E4-29A7-403C-F8E8-9B25B21609D5}"/>
              </a:ext>
            </a:extLst>
          </p:cNvPr>
          <p:cNvSpPr txBox="1"/>
          <p:nvPr/>
        </p:nvSpPr>
        <p:spPr>
          <a:xfrm>
            <a:off x="8377083" y="3695821"/>
            <a:ext cx="2920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97132"/>
                </a:solidFill>
              </a:rPr>
              <a:t>medium: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coding, structured 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D80F34-457C-9A03-0352-ADCFD4635BDF}"/>
              </a:ext>
            </a:extLst>
          </p:cNvPr>
          <p:cNvSpPr txBox="1"/>
          <p:nvPr/>
        </p:nvSpPr>
        <p:spPr>
          <a:xfrm>
            <a:off x="8353161" y="4712912"/>
            <a:ext cx="2920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hard: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arbitrary text</a:t>
            </a:r>
          </a:p>
        </p:txBody>
      </p:sp>
      <p:graphicFrame>
        <p:nvGraphicFramePr>
          <p:cNvPr id="49" name="Chart 48">
            <a:extLst>
              <a:ext uri="{FF2B5EF4-FFF2-40B4-BE49-F238E27FC236}">
                <a16:creationId xmlns:a16="http://schemas.microsoft.com/office/drawing/2014/main" id="{12CDD53A-7D53-1006-E385-63113878A4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5851989"/>
              </p:ext>
            </p:extLst>
          </p:nvPr>
        </p:nvGraphicFramePr>
        <p:xfrm>
          <a:off x="4910049" y="2465531"/>
          <a:ext cx="1805477" cy="1060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8BCDECE-67FD-7B4C-0FC4-91EE35E9D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1180823"/>
              </p:ext>
            </p:extLst>
          </p:nvPr>
        </p:nvGraphicFramePr>
        <p:xfrm>
          <a:off x="4915343" y="3557028"/>
          <a:ext cx="1805477" cy="1060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04538D9-CDEF-FA27-76BF-F5C1DC34C6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7787918"/>
              </p:ext>
            </p:extLst>
          </p:nvPr>
        </p:nvGraphicFramePr>
        <p:xfrm>
          <a:off x="4915343" y="4535848"/>
          <a:ext cx="1805477" cy="1060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05F403A-9092-12F2-3DFE-61D7EC22C8C7}"/>
              </a:ext>
            </a:extLst>
          </p:cNvPr>
          <p:cNvSpPr txBox="1"/>
          <p:nvPr/>
        </p:nvSpPr>
        <p:spPr>
          <a:xfrm>
            <a:off x="5658611" y="5503079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F7F7F"/>
                </a:solidFill>
              </a:rPr>
              <a:t>depth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7D0075-1633-7779-3A48-1AAA74A9EBCB}"/>
                  </a:ext>
                </a:extLst>
              </p:cNvPr>
              <p:cNvSpPr txBox="1"/>
              <p:nvPr/>
            </p:nvSpPr>
            <p:spPr>
              <a:xfrm>
                <a:off x="4910049" y="2034861"/>
                <a:ext cx="2920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 width at depth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7D0075-1633-7779-3A48-1AAA74A9E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49" y="2034861"/>
                <a:ext cx="2920179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4560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6C75B-C4B1-962C-D29E-8E08FA57F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9A7724-546B-F142-4E75-8F67400A31B4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796144-5928-0DBC-DCA3-C62C1ABFDBFC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more efficient chances.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1D46D7-70D3-6A2D-8CE5-771249C4279C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number and size of proposals, context-specific.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59E18D-4288-32AD-17E6-70ED2C70117D}"/>
              </a:ext>
            </a:extLst>
          </p:cNvPr>
          <p:cNvSpPr/>
          <p:nvPr/>
        </p:nvSpPr>
        <p:spPr>
          <a:xfrm>
            <a:off x="457200" y="1847088"/>
            <a:ext cx="1127729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131E29E-E66D-F90E-1CE7-6E5ADD2BC682}"/>
              </a:ext>
            </a:extLst>
          </p:cNvPr>
          <p:cNvCxnSpPr/>
          <p:nvPr/>
        </p:nvCxnSpPr>
        <p:spPr>
          <a:xfrm>
            <a:off x="6080760" y="2459381"/>
            <a:ext cx="0" cy="3057447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516329-61D5-60F3-28EC-19395E30B2E4}"/>
                  </a:ext>
                </a:extLst>
              </p:cNvPr>
              <p:cNvSpPr txBox="1"/>
              <p:nvPr/>
            </p:nvSpPr>
            <p:spPr>
              <a:xfrm>
                <a:off x="1290548" y="2703542"/>
                <a:ext cx="4291102" cy="2426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Given a node budget K, which allocation</a:t>
                </a:r>
              </a:p>
              <a:p>
                <a:endParaRPr lang="en-US" b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is optimal </a:t>
                </a:r>
                <a:r>
                  <a:rPr lang="en-US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w.r.t.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number of correct tokens</a:t>
                </a:r>
                <a:b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</a:br>
                <a:b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(#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𝑐𝑜𝑟𝑟𝑒𝑐𝑡</m:t>
                      </m:r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516329-61D5-60F3-28EC-19395E30B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548" y="2703542"/>
                <a:ext cx="4291102" cy="2426498"/>
              </a:xfrm>
              <a:prstGeom prst="rect">
                <a:avLst/>
              </a:prstGeom>
              <a:blipFill>
                <a:blip r:embed="rId3"/>
                <a:stretch>
                  <a:fillRect l="-1278" t="-1253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Shape 5">
            <a:extLst>
              <a:ext uri="{FF2B5EF4-FFF2-40B4-BE49-F238E27FC236}">
                <a16:creationId xmlns:a16="http://schemas.microsoft.com/office/drawing/2014/main" id="{61AE8991-1B0A-4534-86F0-61C75974D6BB}"/>
              </a:ext>
            </a:extLst>
          </p:cNvPr>
          <p:cNvSpPr/>
          <p:nvPr/>
        </p:nvSpPr>
        <p:spPr>
          <a:xfrm>
            <a:off x="6414997" y="2862886"/>
            <a:ext cx="420624" cy="42062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92E628E7-97C9-CAB0-9D3F-8179AF009276}"/>
              </a:ext>
            </a:extLst>
          </p:cNvPr>
          <p:cNvSpPr/>
          <p:nvPr/>
        </p:nvSpPr>
        <p:spPr>
          <a:xfrm>
            <a:off x="6414997" y="286288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0C9CC140-CB64-254F-526A-F33C910D35B7}"/>
              </a:ext>
            </a:extLst>
          </p:cNvPr>
          <p:cNvSpPr/>
          <p:nvPr/>
        </p:nvSpPr>
        <p:spPr>
          <a:xfrm>
            <a:off x="6414997" y="3780741"/>
            <a:ext cx="420624" cy="420624"/>
          </a:xfrm>
          <a:prstGeom prst="ellipse">
            <a:avLst/>
          </a:prstGeom>
          <a:solidFill>
            <a:srgbClr val="0F9E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343785FB-3A6E-9411-ED5D-6DDB27DBD215}"/>
              </a:ext>
            </a:extLst>
          </p:cNvPr>
          <p:cNvSpPr/>
          <p:nvPr/>
        </p:nvSpPr>
        <p:spPr>
          <a:xfrm>
            <a:off x="6414997" y="378074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77EA7E43-9267-A408-5080-52FCF76EAC3D}"/>
              </a:ext>
            </a:extLst>
          </p:cNvPr>
          <p:cNvSpPr/>
          <p:nvPr/>
        </p:nvSpPr>
        <p:spPr>
          <a:xfrm>
            <a:off x="6369558" y="4698596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7F81E075-B93D-B281-4613-185140AF709E}"/>
              </a:ext>
            </a:extLst>
          </p:cNvPr>
          <p:cNvSpPr/>
          <p:nvPr/>
        </p:nvSpPr>
        <p:spPr>
          <a:xfrm>
            <a:off x="6369558" y="46985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 7">
                <a:extLst>
                  <a:ext uri="{FF2B5EF4-FFF2-40B4-BE49-F238E27FC236}">
                    <a16:creationId xmlns:a16="http://schemas.microsoft.com/office/drawing/2014/main" id="{7B4DB827-D987-60E6-E157-92C0BE8DB788}"/>
                  </a:ext>
                </a:extLst>
              </p:cNvPr>
              <p:cNvSpPr/>
              <p:nvPr/>
            </p:nvSpPr>
            <p:spPr>
              <a:xfrm>
                <a:off x="7169858" y="2862886"/>
                <a:ext cx="2248663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b="1" dirty="0">
                    <a:solidFill>
                      <a:srgbClr val="1F22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𝑷</m:t>
                    </m:r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(#</m:t>
                    </m:r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𝒄𝒐𝒓𝒓𝒆𝒄𝒕</m:t>
                    </m:r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𝒄</m:t>
                    </m:r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65" name="Text 7">
                <a:extLst>
                  <a:ext uri="{FF2B5EF4-FFF2-40B4-BE49-F238E27FC236}">
                    <a16:creationId xmlns:a16="http://schemas.microsoft.com/office/drawing/2014/main" id="{7B4DB827-D987-60E6-E157-92C0BE8DB7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858" y="2862886"/>
                <a:ext cx="2248663" cy="310896"/>
              </a:xfrm>
              <a:prstGeom prst="rect">
                <a:avLst/>
              </a:prstGeom>
              <a:blipFill>
                <a:blip r:embed="rId4"/>
                <a:stretch>
                  <a:fillRect l="-5420" t="-9804" b="-294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 7">
            <a:extLst>
              <a:ext uri="{FF2B5EF4-FFF2-40B4-BE49-F238E27FC236}">
                <a16:creationId xmlns:a16="http://schemas.microsoft.com/office/drawing/2014/main" id="{3E735C15-4E6C-E2D3-C810-9AF6FC77F5DB}"/>
              </a:ext>
            </a:extLst>
          </p:cNvPr>
          <p:cNvSpPr/>
          <p:nvPr/>
        </p:nvSpPr>
        <p:spPr>
          <a:xfrm>
            <a:off x="7169858" y="3133166"/>
            <a:ext cx="22486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F7F7F"/>
                </a:solidFill>
              </a:rPr>
              <a:t>Geometric Distribution.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 7">
                <a:extLst>
                  <a:ext uri="{FF2B5EF4-FFF2-40B4-BE49-F238E27FC236}">
                    <a16:creationId xmlns:a16="http://schemas.microsoft.com/office/drawing/2014/main" id="{1DD5271B-7688-97B7-9455-64DE85BB197B}"/>
                  </a:ext>
                </a:extLst>
              </p:cNvPr>
              <p:cNvSpPr/>
              <p:nvPr/>
            </p:nvSpPr>
            <p:spPr>
              <a:xfrm>
                <a:off x="7169858" y="3780741"/>
                <a:ext cx="2964741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F22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𝑷</m:t>
                    </m:r>
                    <m:d>
                      <m:dPr>
                        <m:endChr m:val="|"/>
                        <m:ctrlP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#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𝒄𝒐𝒓𝒓𝒆𝒄𝒕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=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𝒄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𝑾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𝒅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69" name="Text 7">
                <a:extLst>
                  <a:ext uri="{FF2B5EF4-FFF2-40B4-BE49-F238E27FC236}">
                    <a16:creationId xmlns:a16="http://schemas.microsoft.com/office/drawing/2014/main" id="{1DD5271B-7688-97B7-9455-64DE85BB19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858" y="3780741"/>
                <a:ext cx="2964741" cy="310896"/>
              </a:xfrm>
              <a:prstGeom prst="rect">
                <a:avLst/>
              </a:prstGeom>
              <a:blipFill>
                <a:blip r:embed="rId5"/>
                <a:stretch>
                  <a:fillRect l="-4115" t="-9804" b="-294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 7">
            <a:extLst>
              <a:ext uri="{FF2B5EF4-FFF2-40B4-BE49-F238E27FC236}">
                <a16:creationId xmlns:a16="http://schemas.microsoft.com/office/drawing/2014/main" id="{4D656631-3C61-7E6C-9AF2-0917E196F955}"/>
              </a:ext>
            </a:extLst>
          </p:cNvPr>
          <p:cNvSpPr/>
          <p:nvPr/>
        </p:nvSpPr>
        <p:spPr>
          <a:xfrm>
            <a:off x="7169857" y="4051021"/>
            <a:ext cx="39172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F7F7F"/>
                </a:solidFill>
              </a:rPr>
              <a:t>Zero-inflated </a:t>
            </a:r>
            <a:r>
              <a:rPr lang="en-US" sz="1600" dirty="0" err="1">
                <a:solidFill>
                  <a:srgbClr val="7F7F7F"/>
                </a:solidFill>
              </a:rPr>
              <a:t>BetaBinomial</a:t>
            </a:r>
            <a:r>
              <a:rPr lang="en-US" sz="1600" dirty="0">
                <a:solidFill>
                  <a:srgbClr val="7F7F7F"/>
                </a:solidFill>
              </a:rPr>
              <a:t> branching process.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 7">
                <a:extLst>
                  <a:ext uri="{FF2B5EF4-FFF2-40B4-BE49-F238E27FC236}">
                    <a16:creationId xmlns:a16="http://schemas.microsoft.com/office/drawing/2014/main" id="{3A589531-1419-B83A-3CA1-386220B3FE6E}"/>
                  </a:ext>
                </a:extLst>
              </p:cNvPr>
              <p:cNvSpPr/>
              <p:nvPr/>
            </p:nvSpPr>
            <p:spPr>
              <a:xfrm>
                <a:off x="7169858" y="4694457"/>
                <a:ext cx="2964741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rgbClr val="1F22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Model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𝑷</m:t>
                    </m:r>
                    <m:d>
                      <m:dPr>
                        <m:endChr m:val="|"/>
                        <m:ctrlP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#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𝒄𝒐𝒓𝒓𝒆𝒄𝒕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=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𝒄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𝑾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𝒅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𝒕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&lt;</m:t>
                        </m:r>
                        <m:r>
                          <a:rPr lang="en-US" sz="1600" b="1" i="1" smtClean="0">
                            <a:solidFill>
                              <a:srgbClr val="1F2230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𝒊</m:t>
                        </m:r>
                      </m:sub>
                    </m:sSub>
                    <m:r>
                      <a:rPr lang="en-US" sz="1600" b="1" i="1" smtClean="0">
                        <a:solidFill>
                          <a:srgbClr val="1F2230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73" name="Text 7">
                <a:extLst>
                  <a:ext uri="{FF2B5EF4-FFF2-40B4-BE49-F238E27FC236}">
                    <a16:creationId xmlns:a16="http://schemas.microsoft.com/office/drawing/2014/main" id="{3A589531-1419-B83A-3CA1-386220B3FE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858" y="4694457"/>
                <a:ext cx="2964741" cy="310896"/>
              </a:xfrm>
              <a:prstGeom prst="rect">
                <a:avLst/>
              </a:prstGeom>
              <a:blipFill>
                <a:blip r:embed="rId6"/>
                <a:stretch>
                  <a:fillRect l="-4115" t="-9804" r="-617" b="-294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 7">
            <a:extLst>
              <a:ext uri="{FF2B5EF4-FFF2-40B4-BE49-F238E27FC236}">
                <a16:creationId xmlns:a16="http://schemas.microsoft.com/office/drawing/2014/main" id="{13BAD85C-C81D-BBF2-37DA-796519D2A3F8}"/>
              </a:ext>
            </a:extLst>
          </p:cNvPr>
          <p:cNvSpPr/>
          <p:nvPr/>
        </p:nvSpPr>
        <p:spPr>
          <a:xfrm>
            <a:off x="7169857" y="4964737"/>
            <a:ext cx="39172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F7F7F"/>
                </a:solidFill>
              </a:rPr>
              <a:t>Bayesian updates, Small output heads.</a:t>
            </a:r>
          </a:p>
        </p:txBody>
      </p:sp>
    </p:spTree>
    <p:extLst>
      <p:ext uri="{BB962C8B-B14F-4D97-AF65-F5344CB8AC3E}">
        <p14:creationId xmlns:p14="http://schemas.microsoft.com/office/powerpoint/2010/main" val="2095310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96C04-00A6-AA69-DD1B-FF04D9445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54E928-95F1-AE07-032B-D01EB1E5A820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STEP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F1AC41-FE21-12AE-5D85-3090401DB877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47BCBA87-6D76-6584-0FB0-41759A145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2312929"/>
              </p:ext>
            </p:extLst>
          </p:nvPr>
        </p:nvGraphicFramePr>
        <p:xfrm>
          <a:off x="1280160" y="2084832"/>
          <a:ext cx="9966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1">
            <a:extLst>
              <a:ext uri="{FF2B5EF4-FFF2-40B4-BE49-F238E27FC236}">
                <a16:creationId xmlns:a16="http://schemas.microsoft.com/office/drawing/2014/main" id="{52EA550F-0E8A-BF96-27B8-C46BF50EDFCB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more efficient chances.</a:t>
            </a:r>
            <a:endParaRPr lang="en-US" sz="36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4B23EF5B-CA87-AA4A-7B2A-28E47EC72306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number and size of proposals, context-specific.</a:t>
            </a:r>
            <a:endParaRPr lang="en-US" sz="1500" dirty="0"/>
          </a:p>
        </p:txBody>
      </p:sp>
      <p:sp>
        <p:nvSpPr>
          <p:cNvPr id="120" name="Arc 1">
            <a:extLst>
              <a:ext uri="{FF2B5EF4-FFF2-40B4-BE49-F238E27FC236}">
                <a16:creationId xmlns:a16="http://schemas.microsoft.com/office/drawing/2014/main" id="{B568055D-2574-9603-D93B-84EAECD085D5}"/>
              </a:ext>
            </a:extLst>
          </p:cNvPr>
          <p:cNvSpPr/>
          <p:nvPr/>
        </p:nvSpPr>
        <p:spPr>
          <a:xfrm>
            <a:off x="2762250" y="3793896"/>
            <a:ext cx="952500" cy="651154"/>
          </a:xfrm>
          <a:custGeom>
            <a:avLst/>
            <a:gdLst/>
            <a:ahLst/>
            <a:cxnLst/>
            <a:rect l="0" t="0" r="0" b="0"/>
            <a:pathLst>
              <a:path w="952500" h="651154">
                <a:moveTo>
                  <a:pt x="0" y="651154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1" name="Delta 1">
            <a:extLst>
              <a:ext uri="{FF2B5EF4-FFF2-40B4-BE49-F238E27FC236}">
                <a16:creationId xmlns:a16="http://schemas.microsoft.com/office/drawing/2014/main" id="{85B996ED-58AC-09CE-0C60-8E8A460C5CA6}"/>
              </a:ext>
            </a:extLst>
          </p:cNvPr>
          <p:cNvSpPr txBox="1"/>
          <p:nvPr/>
        </p:nvSpPr>
        <p:spPr>
          <a:xfrm>
            <a:off x="2794000" y="3690976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+18%</a:t>
            </a:r>
          </a:p>
        </p:txBody>
      </p:sp>
      <p:sp>
        <p:nvSpPr>
          <p:cNvPr id="122" name="Arc 2">
            <a:extLst>
              <a:ext uri="{FF2B5EF4-FFF2-40B4-BE49-F238E27FC236}">
                <a16:creationId xmlns:a16="http://schemas.microsoft.com/office/drawing/2014/main" id="{4AE809E0-E943-3556-291F-895BF7E20B13}"/>
              </a:ext>
            </a:extLst>
          </p:cNvPr>
          <p:cNvSpPr/>
          <p:nvPr/>
        </p:nvSpPr>
        <p:spPr>
          <a:xfrm>
            <a:off x="4349750" y="3627018"/>
            <a:ext cx="952500" cy="573278"/>
          </a:xfrm>
          <a:custGeom>
            <a:avLst/>
            <a:gdLst/>
            <a:ahLst/>
            <a:cxnLst/>
            <a:rect l="0" t="0" r="0" b="0"/>
            <a:pathLst>
              <a:path w="952500" h="573278">
                <a:moveTo>
                  <a:pt x="0" y="573278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3" name="Delta 2">
            <a:extLst>
              <a:ext uri="{FF2B5EF4-FFF2-40B4-BE49-F238E27FC236}">
                <a16:creationId xmlns:a16="http://schemas.microsoft.com/office/drawing/2014/main" id="{33FD43EC-D10C-7A33-0C96-7B1F43E52885}"/>
              </a:ext>
            </a:extLst>
          </p:cNvPr>
          <p:cNvSpPr txBox="1"/>
          <p:nvPr/>
        </p:nvSpPr>
        <p:spPr>
          <a:xfrm>
            <a:off x="4381500" y="3492373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+10%</a:t>
            </a:r>
          </a:p>
        </p:txBody>
      </p:sp>
      <p:sp>
        <p:nvSpPr>
          <p:cNvPr id="124" name="Arc 3">
            <a:extLst>
              <a:ext uri="{FF2B5EF4-FFF2-40B4-BE49-F238E27FC236}">
                <a16:creationId xmlns:a16="http://schemas.microsoft.com/office/drawing/2014/main" id="{3AC2D256-87FD-DC28-BE82-E206758BE8AE}"/>
              </a:ext>
            </a:extLst>
          </p:cNvPr>
          <p:cNvSpPr/>
          <p:nvPr/>
        </p:nvSpPr>
        <p:spPr>
          <a:xfrm>
            <a:off x="5937250" y="3563976"/>
            <a:ext cx="952500" cy="469443"/>
          </a:xfrm>
          <a:custGeom>
            <a:avLst/>
            <a:gdLst/>
            <a:ahLst/>
            <a:cxnLst/>
            <a:rect l="0" t="0" r="0" b="0"/>
            <a:pathLst>
              <a:path w="952500" h="469443">
                <a:moveTo>
                  <a:pt x="0" y="469443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5" name="Delta 3">
            <a:extLst>
              <a:ext uri="{FF2B5EF4-FFF2-40B4-BE49-F238E27FC236}">
                <a16:creationId xmlns:a16="http://schemas.microsoft.com/office/drawing/2014/main" id="{C8AC8221-D2D3-06CD-F2CF-363304756597}"/>
              </a:ext>
            </a:extLst>
          </p:cNvPr>
          <p:cNvSpPr txBox="1"/>
          <p:nvPr/>
        </p:nvSpPr>
        <p:spPr>
          <a:xfrm>
            <a:off x="5969000" y="3416275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+4%</a:t>
            </a:r>
          </a:p>
        </p:txBody>
      </p:sp>
    </p:spTree>
    <p:extLst>
      <p:ext uri="{BB962C8B-B14F-4D97-AF65-F5344CB8AC3E}">
        <p14:creationId xmlns:p14="http://schemas.microsoft.com/office/powerpoint/2010/main" val="2104077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B4EFC-EEC9-DAED-D7B7-86E8A337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7D562AF-5687-6C99-AE88-D0B8B2945240}"/>
              </a:ext>
            </a:extLst>
          </p:cNvPr>
          <p:cNvSpPr/>
          <p:nvPr/>
        </p:nvSpPr>
        <p:spPr>
          <a:xfrm>
            <a:off x="457200" y="1783080"/>
            <a:ext cx="11277295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8C36AE-98CB-4A6E-CAF4-AD9A244B195A}"/>
              </a:ext>
            </a:extLst>
          </p:cNvPr>
          <p:cNvSpPr/>
          <p:nvPr/>
        </p:nvSpPr>
        <p:spPr>
          <a:xfrm>
            <a:off x="822960" y="3310128"/>
            <a:ext cx="10515600" cy="0"/>
          </a:xfrm>
          <a:prstGeom prst="line">
            <a:avLst/>
          </a:prstGeom>
          <a:noFill/>
          <a:ln w="12700">
            <a:solidFill>
              <a:srgbClr val="ED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5BA7FC-A893-EAD7-5FAB-85698562C53D}"/>
              </a:ext>
            </a:extLst>
          </p:cNvPr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D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CE6CF13-BD4A-A3C3-6AB6-15153E88CEF0}"/>
              </a:ext>
            </a:extLst>
          </p:cNvPr>
          <p:cNvSpPr/>
          <p:nvPr/>
        </p:nvSpPr>
        <p:spPr>
          <a:xfrm>
            <a:off x="822960" y="2441448"/>
            <a:ext cx="420624" cy="420624"/>
          </a:xfrm>
          <a:prstGeom prst="ellipse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093649-FC11-882E-CA1B-6B3E142A467E}"/>
              </a:ext>
            </a:extLst>
          </p:cNvPr>
          <p:cNvSpPr/>
          <p:nvPr/>
        </p:nvSpPr>
        <p:spPr>
          <a:xfrm>
            <a:off x="82296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6296CA-3F33-E4A0-97F8-01D575BEF485}"/>
              </a:ext>
            </a:extLst>
          </p:cNvPr>
          <p:cNvSpPr/>
          <p:nvPr/>
        </p:nvSpPr>
        <p:spPr>
          <a:xfrm>
            <a:off x="1389888" y="23408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D513486-C17F-D946-A961-150D5745D020}"/>
              </a:ext>
            </a:extLst>
          </p:cNvPr>
          <p:cNvSpPr/>
          <p:nvPr/>
        </p:nvSpPr>
        <p:spPr>
          <a:xfrm>
            <a:off x="1389888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tokens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3CAA086-F4AF-B395-8A43-30EAF2C28709}"/>
              </a:ext>
            </a:extLst>
          </p:cNvPr>
          <p:cNvSpPr/>
          <p:nvPr/>
        </p:nvSpPr>
        <p:spPr>
          <a:xfrm>
            <a:off x="3246120" y="2414016"/>
            <a:ext cx="676656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C43112D-EAC4-AA07-7D3B-39F4CEDA10D0}"/>
              </a:ext>
            </a:extLst>
          </p:cNvPr>
          <p:cNvSpPr/>
          <p:nvPr/>
        </p:nvSpPr>
        <p:spPr>
          <a:xfrm>
            <a:off x="3246120" y="2414016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829705B-7464-4B20-3578-68AA5FB7C1B4}"/>
              </a:ext>
            </a:extLst>
          </p:cNvPr>
          <p:cNvSpPr/>
          <p:nvPr/>
        </p:nvSpPr>
        <p:spPr>
          <a:xfrm>
            <a:off x="4041648" y="2414016"/>
            <a:ext cx="1298448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C5DEF0-33A3-9F07-013C-7AF9B00F5BC6}"/>
              </a:ext>
            </a:extLst>
          </p:cNvPr>
          <p:cNvSpPr/>
          <p:nvPr/>
        </p:nvSpPr>
        <p:spPr>
          <a:xfrm>
            <a:off x="4041648" y="241401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</a:t>
            </a:r>
            <a:endParaRPr lang="en-US" sz="15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2A289FD-AE67-33F7-6661-6319EC393660}"/>
              </a:ext>
            </a:extLst>
          </p:cNvPr>
          <p:cNvSpPr/>
          <p:nvPr/>
        </p:nvSpPr>
        <p:spPr>
          <a:xfrm>
            <a:off x="5458968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0721C5-E456-959B-CE20-8F8567DE53D6}"/>
              </a:ext>
            </a:extLst>
          </p:cNvPr>
          <p:cNvSpPr/>
          <p:nvPr/>
        </p:nvSpPr>
        <p:spPr>
          <a:xfrm>
            <a:off x="5458968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F3091C5-F214-5336-AA91-AC364CE17CFF}"/>
              </a:ext>
            </a:extLst>
          </p:cNvPr>
          <p:cNvSpPr/>
          <p:nvPr/>
        </p:nvSpPr>
        <p:spPr>
          <a:xfrm>
            <a:off x="6035040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94C1BA-A348-0E16-C84D-B39CAD2B2DEE}"/>
              </a:ext>
            </a:extLst>
          </p:cNvPr>
          <p:cNvSpPr/>
          <p:nvPr/>
        </p:nvSpPr>
        <p:spPr>
          <a:xfrm>
            <a:off x="6035040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CF6B4A6-727F-F067-415F-FC2F786287E9}"/>
              </a:ext>
            </a:extLst>
          </p:cNvPr>
          <p:cNvSpPr/>
          <p:nvPr/>
        </p:nvSpPr>
        <p:spPr>
          <a:xfrm>
            <a:off x="6611112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99ED660-C40C-027F-D84B-AF917446AA81}"/>
              </a:ext>
            </a:extLst>
          </p:cNvPr>
          <p:cNvSpPr/>
          <p:nvPr/>
        </p:nvSpPr>
        <p:spPr>
          <a:xfrm>
            <a:off x="6611112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35274B8-09B6-B0FA-F2BB-5FB7C95EC087}"/>
              </a:ext>
            </a:extLst>
          </p:cNvPr>
          <p:cNvSpPr/>
          <p:nvPr/>
        </p:nvSpPr>
        <p:spPr>
          <a:xfrm>
            <a:off x="7187184" y="241401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6EEFB"/>
          </a:solidFill>
          <a:ln w="15875">
            <a:solidFill>
              <a:srgbClr val="6EC1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7B1AA55-F62A-ACEF-6CEC-58A8FFD2F1E1}"/>
              </a:ext>
            </a:extLst>
          </p:cNvPr>
          <p:cNvSpPr/>
          <p:nvPr/>
        </p:nvSpPr>
        <p:spPr>
          <a:xfrm>
            <a:off x="7187184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354A4C2-A8A6-C5F7-6A11-0C1A6D097A71}"/>
              </a:ext>
            </a:extLst>
          </p:cNvPr>
          <p:cNvSpPr/>
          <p:nvPr/>
        </p:nvSpPr>
        <p:spPr>
          <a:xfrm>
            <a:off x="5458968" y="2084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pic>
        <p:nvPicPr>
          <p:cNvPr id="24" name="Image 0" descr="f_phi.png">
            <a:extLst>
              <a:ext uri="{FF2B5EF4-FFF2-40B4-BE49-F238E27FC236}">
                <a16:creationId xmlns:a16="http://schemas.microsoft.com/office/drawing/2014/main" id="{64682E39-EDB8-86C4-FD63-1C598D7CA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59736"/>
            <a:ext cx="2212848" cy="384048"/>
          </a:xfrm>
          <a:prstGeom prst="rect">
            <a:avLst/>
          </a:prstGeom>
        </p:spPr>
      </p:pic>
      <p:sp>
        <p:nvSpPr>
          <p:cNvPr id="25" name="Shape 22">
            <a:extLst>
              <a:ext uri="{FF2B5EF4-FFF2-40B4-BE49-F238E27FC236}">
                <a16:creationId xmlns:a16="http://schemas.microsoft.com/office/drawing/2014/main" id="{83011EBB-FBD0-A91F-3699-C56FDD522CC5}"/>
              </a:ext>
            </a:extLst>
          </p:cNvPr>
          <p:cNvSpPr/>
          <p:nvPr/>
        </p:nvSpPr>
        <p:spPr>
          <a:xfrm>
            <a:off x="822960" y="3767328"/>
            <a:ext cx="420624" cy="420624"/>
          </a:xfrm>
          <a:prstGeom prst="ellipse">
            <a:avLst/>
          </a:prstGeom>
          <a:solidFill>
            <a:srgbClr val="0F9E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6E59056-EEF7-B552-D226-FD3BBB995029}"/>
              </a:ext>
            </a:extLst>
          </p:cNvPr>
          <p:cNvSpPr/>
          <p:nvPr/>
        </p:nvSpPr>
        <p:spPr>
          <a:xfrm>
            <a:off x="82296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D62AC44-C8C6-94DC-860B-254D5023BDD4}"/>
              </a:ext>
            </a:extLst>
          </p:cNvPr>
          <p:cNvSpPr/>
          <p:nvPr/>
        </p:nvSpPr>
        <p:spPr>
          <a:xfrm>
            <a:off x="1389888" y="36667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3F108DA-C692-0CC9-E87E-0D8DBEC0F2B2}"/>
              </a:ext>
            </a:extLst>
          </p:cNvPr>
          <p:cNvSpPr/>
          <p:nvPr/>
        </p:nvSpPr>
        <p:spPr>
          <a:xfrm>
            <a:off x="1389888" y="39593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05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143DEC7-38FF-3F3E-3B1F-9B3289071E49}"/>
              </a:ext>
            </a:extLst>
          </p:cNvPr>
          <p:cNvSpPr/>
          <p:nvPr/>
        </p:nvSpPr>
        <p:spPr>
          <a:xfrm>
            <a:off x="5458968" y="373989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C8A19B1-75DB-4973-E480-D3F0C4F07D27}"/>
              </a:ext>
            </a:extLst>
          </p:cNvPr>
          <p:cNvSpPr/>
          <p:nvPr/>
        </p:nvSpPr>
        <p:spPr>
          <a:xfrm>
            <a:off x="5458968" y="37398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3BD4EE72-4C8F-6237-1A0D-8CC09BE2EEE9}"/>
              </a:ext>
            </a:extLst>
          </p:cNvPr>
          <p:cNvSpPr/>
          <p:nvPr/>
        </p:nvSpPr>
        <p:spPr>
          <a:xfrm>
            <a:off x="6035040" y="373989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F2B468F5-03F9-75EA-7556-A63791A918BB}"/>
              </a:ext>
            </a:extLst>
          </p:cNvPr>
          <p:cNvSpPr/>
          <p:nvPr/>
        </p:nvSpPr>
        <p:spPr>
          <a:xfrm>
            <a:off x="6035040" y="37398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7A1482B0-8F4A-A23D-503B-2F131A9D8EFD}"/>
              </a:ext>
            </a:extLst>
          </p:cNvPr>
          <p:cNvSpPr/>
          <p:nvPr/>
        </p:nvSpPr>
        <p:spPr>
          <a:xfrm>
            <a:off x="6611112" y="373989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FBDDDD"/>
          </a:solidFill>
          <a:ln w="15875">
            <a:solidFill>
              <a:srgbClr val="E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1A46138-1D51-63C6-7192-2C075CFB13EA}"/>
              </a:ext>
            </a:extLst>
          </p:cNvPr>
          <p:cNvSpPr/>
          <p:nvPr/>
        </p:nvSpPr>
        <p:spPr>
          <a:xfrm>
            <a:off x="6611112" y="37398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25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B9BB9FDC-7288-5985-4D52-47F2BFE28A0C}"/>
              </a:ext>
            </a:extLst>
          </p:cNvPr>
          <p:cNvSpPr/>
          <p:nvPr/>
        </p:nvSpPr>
        <p:spPr>
          <a:xfrm>
            <a:off x="7187184" y="373989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EDEEF2"/>
          </a:solidFill>
          <a:ln w="1587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40B35FB2-340C-D0BE-1089-B08A905A0D42}"/>
              </a:ext>
            </a:extLst>
          </p:cNvPr>
          <p:cNvSpPr/>
          <p:nvPr/>
        </p:nvSpPr>
        <p:spPr>
          <a:xfrm>
            <a:off x="7187184" y="37398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AB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A11EC0C5-6280-5938-3888-F2E8EF755F2A}"/>
              </a:ext>
            </a:extLst>
          </p:cNvPr>
          <p:cNvSpPr/>
          <p:nvPr/>
        </p:nvSpPr>
        <p:spPr>
          <a:xfrm>
            <a:off x="5458968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74E0EEB-150C-6EF9-66D4-A8C95DF07CD8}"/>
              </a:ext>
            </a:extLst>
          </p:cNvPr>
          <p:cNvSpPr/>
          <p:nvPr/>
        </p:nvSpPr>
        <p:spPr>
          <a:xfrm>
            <a:off x="603504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AA039C62-128A-CB34-15BF-5816AEC684DA}"/>
              </a:ext>
            </a:extLst>
          </p:cNvPr>
          <p:cNvSpPr/>
          <p:nvPr/>
        </p:nvSpPr>
        <p:spPr>
          <a:xfrm>
            <a:off x="6611112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6565BAD5-1CFB-DC2B-77F0-F0BEF449D79A}"/>
              </a:ext>
            </a:extLst>
          </p:cNvPr>
          <p:cNvSpPr/>
          <p:nvPr/>
        </p:nvSpPr>
        <p:spPr>
          <a:xfrm>
            <a:off x="7187184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pic>
        <p:nvPicPr>
          <p:cNvPr id="41" name="Image 1" descr="f_theta.png">
            <a:extLst>
              <a:ext uri="{FF2B5EF4-FFF2-40B4-BE49-F238E27FC236}">
                <a16:creationId xmlns:a16="http://schemas.microsoft.com/office/drawing/2014/main" id="{B1700F60-4751-058F-7CD3-BB398D7C2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785616"/>
            <a:ext cx="1545336" cy="384048"/>
          </a:xfrm>
          <a:prstGeom prst="rect">
            <a:avLst/>
          </a:prstGeom>
        </p:spPr>
      </p:pic>
      <p:sp>
        <p:nvSpPr>
          <p:cNvPr id="42" name="Shape 38">
            <a:extLst>
              <a:ext uri="{FF2B5EF4-FFF2-40B4-BE49-F238E27FC236}">
                <a16:creationId xmlns:a16="http://schemas.microsoft.com/office/drawing/2014/main" id="{6FD3CBAB-E3FE-242A-6343-52FAE7017991}"/>
              </a:ext>
            </a:extLst>
          </p:cNvPr>
          <p:cNvSpPr/>
          <p:nvPr/>
        </p:nvSpPr>
        <p:spPr>
          <a:xfrm>
            <a:off x="822960" y="5047488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6EBCFBD1-0A3F-6262-6A41-8D3EED34F692}"/>
              </a:ext>
            </a:extLst>
          </p:cNvPr>
          <p:cNvSpPr/>
          <p:nvPr/>
        </p:nvSpPr>
        <p:spPr>
          <a:xfrm>
            <a:off x="822960" y="5047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6DE0ABDA-8A7D-0082-AB58-05DA93DB5C0C}"/>
              </a:ext>
            </a:extLst>
          </p:cNvPr>
          <p:cNvSpPr/>
          <p:nvPr/>
        </p:nvSpPr>
        <p:spPr>
          <a:xfrm>
            <a:off x="1389888" y="49469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600" dirty="0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B189CACA-0D11-6767-1CAD-FB8575CFCDF6}"/>
              </a:ext>
            </a:extLst>
          </p:cNvPr>
          <p:cNvSpPr/>
          <p:nvPr/>
        </p:nvSpPr>
        <p:spPr>
          <a:xfrm>
            <a:off x="1389888" y="5239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mistake</a:t>
            </a:r>
            <a:endParaRPr lang="en-US" sz="1050" dirty="0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77A9B7EE-0DF0-330F-D9C2-6EA63E0D76BC}"/>
              </a:ext>
            </a:extLst>
          </p:cNvPr>
          <p:cNvSpPr/>
          <p:nvPr/>
        </p:nvSpPr>
        <p:spPr>
          <a:xfrm>
            <a:off x="3246120" y="5020056"/>
            <a:ext cx="676656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D440EBB3-57CE-304B-8E07-0A502860D204}"/>
              </a:ext>
            </a:extLst>
          </p:cNvPr>
          <p:cNvSpPr/>
          <p:nvPr/>
        </p:nvSpPr>
        <p:spPr>
          <a:xfrm>
            <a:off x="3246120" y="5020056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500" dirty="0"/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9B09B1DB-BB3A-17E7-D116-67292484ECD6}"/>
              </a:ext>
            </a:extLst>
          </p:cNvPr>
          <p:cNvSpPr/>
          <p:nvPr/>
        </p:nvSpPr>
        <p:spPr>
          <a:xfrm>
            <a:off x="4041648" y="5020056"/>
            <a:ext cx="1298448" cy="475488"/>
          </a:xfrm>
          <a:prstGeom prst="roundRect">
            <a:avLst>
              <a:gd name="adj" fmla="val 11538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A9F6AF5B-A0A5-C00F-0644-8C307057A9AA}"/>
              </a:ext>
            </a:extLst>
          </p:cNvPr>
          <p:cNvSpPr/>
          <p:nvPr/>
        </p:nvSpPr>
        <p:spPr>
          <a:xfrm>
            <a:off x="4041648" y="50200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</a:t>
            </a:r>
            <a:endParaRPr lang="en-US" sz="1500" dirty="0"/>
          </a:p>
        </p:txBody>
      </p:sp>
      <p:sp>
        <p:nvSpPr>
          <p:cNvPr id="50" name="Shape 46">
            <a:extLst>
              <a:ext uri="{FF2B5EF4-FFF2-40B4-BE49-F238E27FC236}">
                <a16:creationId xmlns:a16="http://schemas.microsoft.com/office/drawing/2014/main" id="{A13C4290-C9BB-62CE-2FBD-B401D5F5BB3B}"/>
              </a:ext>
            </a:extLst>
          </p:cNvPr>
          <p:cNvSpPr/>
          <p:nvPr/>
        </p:nvSpPr>
        <p:spPr>
          <a:xfrm>
            <a:off x="5458968" y="502005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7DB0821A-3825-58BA-568F-06B37B135ADC}"/>
              </a:ext>
            </a:extLst>
          </p:cNvPr>
          <p:cNvSpPr/>
          <p:nvPr/>
        </p:nvSpPr>
        <p:spPr>
          <a:xfrm>
            <a:off x="5458968" y="5020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00" dirty="0"/>
          </a:p>
        </p:txBody>
      </p:sp>
      <p:sp>
        <p:nvSpPr>
          <p:cNvPr id="52" name="Shape 48">
            <a:extLst>
              <a:ext uri="{FF2B5EF4-FFF2-40B4-BE49-F238E27FC236}">
                <a16:creationId xmlns:a16="http://schemas.microsoft.com/office/drawing/2014/main" id="{26023EB6-45F6-0109-E0DA-1FF3EE0286A3}"/>
              </a:ext>
            </a:extLst>
          </p:cNvPr>
          <p:cNvSpPr/>
          <p:nvPr/>
        </p:nvSpPr>
        <p:spPr>
          <a:xfrm>
            <a:off x="6035040" y="502005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3A3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>
            <a:extLst>
              <a:ext uri="{FF2B5EF4-FFF2-40B4-BE49-F238E27FC236}">
                <a16:creationId xmlns:a16="http://schemas.microsoft.com/office/drawing/2014/main" id="{C5FB9B59-CAE7-3DCB-1FE2-118C4DC845AA}"/>
              </a:ext>
            </a:extLst>
          </p:cNvPr>
          <p:cNvSpPr/>
          <p:nvPr/>
        </p:nvSpPr>
        <p:spPr>
          <a:xfrm>
            <a:off x="6035040" y="5020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54" name="Shape 50">
            <a:extLst>
              <a:ext uri="{FF2B5EF4-FFF2-40B4-BE49-F238E27FC236}">
                <a16:creationId xmlns:a16="http://schemas.microsoft.com/office/drawing/2014/main" id="{83C5B12C-E712-F0DC-1132-4050D192DEE3}"/>
              </a:ext>
            </a:extLst>
          </p:cNvPr>
          <p:cNvSpPr/>
          <p:nvPr/>
        </p:nvSpPr>
        <p:spPr>
          <a:xfrm>
            <a:off x="6611112" y="5020056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DCF2E4"/>
          </a:solidFill>
          <a:ln w="15875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>
            <a:extLst>
              <a:ext uri="{FF2B5EF4-FFF2-40B4-BE49-F238E27FC236}">
                <a16:creationId xmlns:a16="http://schemas.microsoft.com/office/drawing/2014/main" id="{5AEA40EE-A958-1538-9465-54F3444CF61B}"/>
              </a:ext>
            </a:extLst>
          </p:cNvPr>
          <p:cNvSpPr/>
          <p:nvPr/>
        </p:nvSpPr>
        <p:spPr>
          <a:xfrm>
            <a:off x="6611112" y="502005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56" name="Text 52">
            <a:extLst>
              <a:ext uri="{FF2B5EF4-FFF2-40B4-BE49-F238E27FC236}">
                <a16:creationId xmlns:a16="http://schemas.microsoft.com/office/drawing/2014/main" id="{1C1EB0E1-F2D7-22E6-2E8A-A7AF15D53D24}"/>
              </a:ext>
            </a:extLst>
          </p:cNvPr>
          <p:cNvSpPr/>
          <p:nvPr/>
        </p:nvSpPr>
        <p:spPr>
          <a:xfrm>
            <a:off x="6611112" y="5532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57" name="Shape 53">
            <a:extLst>
              <a:ext uri="{FF2B5EF4-FFF2-40B4-BE49-F238E27FC236}">
                <a16:creationId xmlns:a16="http://schemas.microsoft.com/office/drawing/2014/main" id="{670E3967-3781-7730-88FC-EF08D3E9A107}"/>
              </a:ext>
            </a:extLst>
          </p:cNvPr>
          <p:cNvSpPr/>
          <p:nvPr/>
        </p:nvSpPr>
        <p:spPr>
          <a:xfrm>
            <a:off x="8549640" y="4873752"/>
            <a:ext cx="2788920" cy="786384"/>
          </a:xfrm>
          <a:prstGeom prst="roundRect">
            <a:avLst>
              <a:gd name="adj" fmla="val 11628"/>
            </a:avLst>
          </a:prstGeom>
          <a:solidFill>
            <a:srgbClr val="FDF0E7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4">
            <a:extLst>
              <a:ext uri="{FF2B5EF4-FFF2-40B4-BE49-F238E27FC236}">
                <a16:creationId xmlns:a16="http://schemas.microsoft.com/office/drawing/2014/main" id="{E85991E5-0A1C-2193-983F-D50A49E7F51E}"/>
              </a:ext>
            </a:extLst>
          </p:cNvPr>
          <p:cNvSpPr/>
          <p:nvPr/>
        </p:nvSpPr>
        <p:spPr>
          <a:xfrm>
            <a:off x="8686800" y="48920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55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tokens committed this step
</a:t>
            </a:r>
            <a:r>
              <a:rPr lang="en-US" sz="1050" dirty="0">
                <a:solidFill>
                  <a:srgbClr val="6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 for autoregressive → speedup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 2">
                <a:extLst>
                  <a:ext uri="{FF2B5EF4-FFF2-40B4-BE49-F238E27FC236}">
                    <a16:creationId xmlns:a16="http://schemas.microsoft.com/office/drawing/2014/main" id="{35FEAC60-4F65-5F7F-2E50-1AB8B219658D}"/>
                  </a:ext>
                </a:extLst>
              </p:cNvPr>
              <p:cNvSpPr/>
              <p:nvPr/>
            </p:nvSpPr>
            <p:spPr>
              <a:xfrm>
                <a:off x="676656" y="1335024"/>
                <a:ext cx="1088136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500" dirty="0">
                    <a:solidFill>
                      <a:srgbClr val="8A90A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Instead of separate teacher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𝜃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e>
                      <m:sub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&lt;</m:t>
                        </m:r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𝑘</m:t>
                        </m:r>
                      </m:sub>
                    </m:sSub>
                    <m:r>
                      <a:rPr lang="en-US" sz="1500" i="1">
                        <a:solidFill>
                          <a:srgbClr val="8A90A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>
                    <a:solidFill>
                      <a:srgbClr val="8A90A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use aligned student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𝜙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e>
                      <m:sub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&lt;</m:t>
                        </m:r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𝑘</m:t>
                        </m:r>
                      </m:sub>
                    </m:sSub>
                    <m:r>
                      <a:rPr lang="en-US" sz="1500" i="1">
                        <a:solidFill>
                          <a:srgbClr val="8A90A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sz="1500" i="0">
                        <a:solidFill>
                          <a:srgbClr val="8A90A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60" name="Text 2">
                <a:extLst>
                  <a:ext uri="{FF2B5EF4-FFF2-40B4-BE49-F238E27FC236}">
                    <a16:creationId xmlns:a16="http://schemas.microsoft.com/office/drawing/2014/main" id="{35FEAC60-4F65-5F7F-2E50-1AB8B21965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" y="1335024"/>
                <a:ext cx="10881360" cy="320040"/>
              </a:xfrm>
              <a:prstGeom prst="rect">
                <a:avLst/>
              </a:prstGeom>
              <a:blipFill>
                <a:blip r:embed="rId5"/>
                <a:stretch>
                  <a:fillRect l="-1064" t="-5660" b="-1886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0">
            <a:extLst>
              <a:ext uri="{FF2B5EF4-FFF2-40B4-BE49-F238E27FC236}">
                <a16:creationId xmlns:a16="http://schemas.microsoft.com/office/drawing/2014/main" id="{DE6F3B87-B82F-BCAF-AD17-4C32E256C7AE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DA089E54-D8D6-DF70-5CB1-DE56A4E2C700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better aligned AR reference.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25590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FE39C-0464-3D28-245C-E35C6E28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0034A4-F119-C623-8C85-530EA9CF6563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STEP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69EF11-36C1-3DED-5402-7D7E30C2D929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8246288D-E180-A323-03EA-26253FD6DF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394742"/>
              </p:ext>
            </p:extLst>
          </p:nvPr>
        </p:nvGraphicFramePr>
        <p:xfrm>
          <a:off x="1280160" y="2084832"/>
          <a:ext cx="9966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1">
            <a:extLst>
              <a:ext uri="{FF2B5EF4-FFF2-40B4-BE49-F238E27FC236}">
                <a16:creationId xmlns:a16="http://schemas.microsoft.com/office/drawing/2014/main" id="{3702D61D-C6F8-E6CB-FF8B-737180032EF6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better aligned AR reference.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83B70716-6731-9ED1-CCE6-07A92CAEA49A}"/>
                  </a:ext>
                </a:extLst>
              </p:cNvPr>
              <p:cNvSpPr/>
              <p:nvPr/>
            </p:nvSpPr>
            <p:spPr>
              <a:xfrm>
                <a:off x="676656" y="1335024"/>
                <a:ext cx="1088136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500" dirty="0">
                    <a:solidFill>
                      <a:srgbClr val="8A90A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Instead of separate teacher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𝜃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e>
                      <m:sub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&lt;</m:t>
                        </m:r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𝑘</m:t>
                        </m:r>
                      </m:sub>
                    </m:sSub>
                    <m:r>
                      <a:rPr lang="en-US" sz="1500" i="1">
                        <a:solidFill>
                          <a:srgbClr val="8A90A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>
                    <a:solidFill>
                      <a:srgbClr val="8A90A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use aligned student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𝑃</m:t>
                        </m:r>
                      </m:e>
                      <m:sub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𝜙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500" i="1">
                                <a:solidFill>
                                  <a:srgbClr val="8A90A6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e>
                      <m:sub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&lt;</m:t>
                        </m:r>
                        <m:r>
                          <a:rPr lang="en-US" sz="1500" i="1">
                            <a:solidFill>
                              <a:srgbClr val="8A90A6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𝑘</m:t>
                        </m:r>
                      </m:sub>
                    </m:sSub>
                    <m:r>
                      <a:rPr lang="en-US" sz="1500" i="1">
                        <a:solidFill>
                          <a:srgbClr val="8A90A6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sz="1500">
                        <a:solidFill>
                          <a:srgbClr val="8A90A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83B70716-6731-9ED1-CCE6-07A92CAEA4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" y="1335024"/>
                <a:ext cx="10881360" cy="320040"/>
              </a:xfrm>
              <a:prstGeom prst="rect">
                <a:avLst/>
              </a:prstGeom>
              <a:blipFill>
                <a:blip r:embed="rId4"/>
                <a:stretch>
                  <a:fillRect l="-1064" t="-5660" b="-1886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Arc 1">
            <a:extLst>
              <a:ext uri="{FF2B5EF4-FFF2-40B4-BE49-F238E27FC236}">
                <a16:creationId xmlns:a16="http://schemas.microsoft.com/office/drawing/2014/main" id="{86E1DA25-7196-91EB-1D5A-6F62B6CAFE66}"/>
              </a:ext>
            </a:extLst>
          </p:cNvPr>
          <p:cNvSpPr/>
          <p:nvPr/>
        </p:nvSpPr>
        <p:spPr>
          <a:xfrm>
            <a:off x="2762250" y="3793896"/>
            <a:ext cx="952500" cy="651154"/>
          </a:xfrm>
          <a:custGeom>
            <a:avLst/>
            <a:gdLst/>
            <a:ahLst/>
            <a:cxnLst/>
            <a:rect l="0" t="0" r="0" b="0"/>
            <a:pathLst>
              <a:path w="952500" h="651154">
                <a:moveTo>
                  <a:pt x="0" y="651154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1" name="Delta 1">
            <a:extLst>
              <a:ext uri="{FF2B5EF4-FFF2-40B4-BE49-F238E27FC236}">
                <a16:creationId xmlns:a16="http://schemas.microsoft.com/office/drawing/2014/main" id="{C180DCF0-38E5-06CA-3CC8-BF8082AE26F7}"/>
              </a:ext>
            </a:extLst>
          </p:cNvPr>
          <p:cNvSpPr txBox="1"/>
          <p:nvPr/>
        </p:nvSpPr>
        <p:spPr>
          <a:xfrm>
            <a:off x="2794000" y="3690976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+18%</a:t>
            </a:r>
          </a:p>
        </p:txBody>
      </p:sp>
      <p:sp>
        <p:nvSpPr>
          <p:cNvPr id="122" name="Arc 2">
            <a:extLst>
              <a:ext uri="{FF2B5EF4-FFF2-40B4-BE49-F238E27FC236}">
                <a16:creationId xmlns:a16="http://schemas.microsoft.com/office/drawing/2014/main" id="{375C0CEF-0145-CC96-97C6-1421792E95F1}"/>
              </a:ext>
            </a:extLst>
          </p:cNvPr>
          <p:cNvSpPr/>
          <p:nvPr/>
        </p:nvSpPr>
        <p:spPr>
          <a:xfrm>
            <a:off x="4349750" y="3627018"/>
            <a:ext cx="952500" cy="573278"/>
          </a:xfrm>
          <a:custGeom>
            <a:avLst/>
            <a:gdLst/>
            <a:ahLst/>
            <a:cxnLst/>
            <a:rect l="0" t="0" r="0" b="0"/>
            <a:pathLst>
              <a:path w="952500" h="573278">
                <a:moveTo>
                  <a:pt x="0" y="573278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3" name="Delta 2">
            <a:extLst>
              <a:ext uri="{FF2B5EF4-FFF2-40B4-BE49-F238E27FC236}">
                <a16:creationId xmlns:a16="http://schemas.microsoft.com/office/drawing/2014/main" id="{6B3A1E2F-D205-AA0C-64DC-37730241D4ED}"/>
              </a:ext>
            </a:extLst>
          </p:cNvPr>
          <p:cNvSpPr txBox="1"/>
          <p:nvPr/>
        </p:nvSpPr>
        <p:spPr>
          <a:xfrm>
            <a:off x="4381500" y="3492373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+10%</a:t>
            </a:r>
          </a:p>
        </p:txBody>
      </p:sp>
      <p:sp>
        <p:nvSpPr>
          <p:cNvPr id="124" name="Arc 3">
            <a:extLst>
              <a:ext uri="{FF2B5EF4-FFF2-40B4-BE49-F238E27FC236}">
                <a16:creationId xmlns:a16="http://schemas.microsoft.com/office/drawing/2014/main" id="{0F320551-FDC2-8316-9299-B6CDA28AEBC9}"/>
              </a:ext>
            </a:extLst>
          </p:cNvPr>
          <p:cNvSpPr/>
          <p:nvPr/>
        </p:nvSpPr>
        <p:spPr>
          <a:xfrm>
            <a:off x="5937250" y="3563976"/>
            <a:ext cx="952500" cy="469443"/>
          </a:xfrm>
          <a:custGeom>
            <a:avLst/>
            <a:gdLst/>
            <a:ahLst/>
            <a:cxnLst/>
            <a:rect l="0" t="0" r="0" b="0"/>
            <a:pathLst>
              <a:path w="952500" h="469443">
                <a:moveTo>
                  <a:pt x="0" y="469443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5" name="Delta 3">
            <a:extLst>
              <a:ext uri="{FF2B5EF4-FFF2-40B4-BE49-F238E27FC236}">
                <a16:creationId xmlns:a16="http://schemas.microsoft.com/office/drawing/2014/main" id="{7FC2E959-090B-2D01-2944-38273C1E4373}"/>
              </a:ext>
            </a:extLst>
          </p:cNvPr>
          <p:cNvSpPr txBox="1"/>
          <p:nvPr/>
        </p:nvSpPr>
        <p:spPr>
          <a:xfrm>
            <a:off x="5969000" y="3416275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+4%</a:t>
            </a:r>
          </a:p>
        </p:txBody>
      </p:sp>
      <p:sp>
        <p:nvSpPr>
          <p:cNvPr id="126" name="Arc 4">
            <a:extLst>
              <a:ext uri="{FF2B5EF4-FFF2-40B4-BE49-F238E27FC236}">
                <a16:creationId xmlns:a16="http://schemas.microsoft.com/office/drawing/2014/main" id="{8C6CF279-74A8-51BA-8104-C659A7A93F76}"/>
              </a:ext>
            </a:extLst>
          </p:cNvPr>
          <p:cNvSpPr/>
          <p:nvPr/>
        </p:nvSpPr>
        <p:spPr>
          <a:xfrm>
            <a:off x="7524750" y="3167177"/>
            <a:ext cx="952500" cy="803199"/>
          </a:xfrm>
          <a:custGeom>
            <a:avLst/>
            <a:gdLst/>
            <a:ahLst/>
            <a:cxnLst/>
            <a:rect l="0" t="0" r="0" b="0"/>
            <a:pathLst>
              <a:path w="952500" h="803199">
                <a:moveTo>
                  <a:pt x="0" y="803199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7" name="Delta 4">
            <a:extLst>
              <a:ext uri="{FF2B5EF4-FFF2-40B4-BE49-F238E27FC236}">
                <a16:creationId xmlns:a16="http://schemas.microsoft.com/office/drawing/2014/main" id="{DD7C91FA-67D5-A96A-0AD5-BA319313E905}"/>
              </a:ext>
            </a:extLst>
          </p:cNvPr>
          <p:cNvSpPr txBox="1"/>
          <p:nvPr/>
        </p:nvSpPr>
        <p:spPr>
          <a:xfrm>
            <a:off x="7556500" y="3027477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+22%</a:t>
            </a:r>
          </a:p>
        </p:txBody>
      </p:sp>
    </p:spTree>
    <p:extLst>
      <p:ext uri="{BB962C8B-B14F-4D97-AF65-F5344CB8AC3E}">
        <p14:creationId xmlns:p14="http://schemas.microsoft.com/office/powerpoint/2010/main" val="1854373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48EC3-5895-ADC9-50F1-E8667DBDB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EF313E-F67F-8064-B37E-6E899AB368F3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5F5E7D-FEA6-FE94-798D-8E3162712EC3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A92585F4-6521-73FE-7015-DDD85AB32E46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Parallelize proposal and verification.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CA3FA721-6F46-C5DB-AAA3-7D7CE80A7ECF}"/>
                  </a:ext>
                </a:extLst>
              </p:cNvPr>
              <p:cNvSpPr/>
              <p:nvPr/>
            </p:nvSpPr>
            <p:spPr>
              <a:xfrm>
                <a:off x="676656" y="1335024"/>
                <a:ext cx="1088136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500" dirty="0">
                    <a:solidFill>
                      <a:srgbClr val="8A90A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Partial Quadratic Decoding keeps extra compute limited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500" i="0">
                        <a:solidFill>
                          <a:srgbClr val="8A90A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CA3FA721-6F46-C5DB-AAA3-7D7CE80A7E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" y="1335024"/>
                <a:ext cx="10881360" cy="320040"/>
              </a:xfrm>
              <a:prstGeom prst="rect">
                <a:avLst/>
              </a:prstGeom>
              <a:blipFill>
                <a:blip r:embed="rId3"/>
                <a:stretch>
                  <a:fillRect l="-1064" t="-3774" b="-1886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FDAF413-A516-6FB3-2128-BB6882B58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2478164"/>
            <a:ext cx="10401300" cy="321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84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FF8D9-2116-C9E4-44AD-D546801F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44ECE9-5F8F-7F10-E389-DFFF845F9AA8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STEP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F77D54-EA70-FCCA-7481-BBB142FA8EA8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A4B5F0A4-F480-A1C7-42A9-AE6E2FFFCE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2149004"/>
              </p:ext>
            </p:extLst>
          </p:nvPr>
        </p:nvGraphicFramePr>
        <p:xfrm>
          <a:off x="1280160" y="2084832"/>
          <a:ext cx="9966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1">
            <a:extLst>
              <a:ext uri="{FF2B5EF4-FFF2-40B4-BE49-F238E27FC236}">
                <a16:creationId xmlns:a16="http://schemas.microsoft.com/office/drawing/2014/main" id="{A168E582-4C24-99E6-4AEC-665183910AF2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Parallelize proposal and verification.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C1B32847-1D27-631A-3CD0-16E4F7EB07BD}"/>
                  </a:ext>
                </a:extLst>
              </p:cNvPr>
              <p:cNvSpPr/>
              <p:nvPr/>
            </p:nvSpPr>
            <p:spPr>
              <a:xfrm>
                <a:off x="676656" y="1335024"/>
                <a:ext cx="1088136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500" dirty="0">
                    <a:solidFill>
                      <a:srgbClr val="8A90A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Partial Quadratic Decoding keeps extra compute limited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500">
                        <a:solidFill>
                          <a:srgbClr val="8A90A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15" name="Text 2">
                <a:extLst>
                  <a:ext uri="{FF2B5EF4-FFF2-40B4-BE49-F238E27FC236}">
                    <a16:creationId xmlns:a16="http://schemas.microsoft.com/office/drawing/2014/main" id="{C1B32847-1D27-631A-3CD0-16E4F7EB07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" y="1335024"/>
                <a:ext cx="10881360" cy="320040"/>
              </a:xfrm>
              <a:prstGeom prst="rect">
                <a:avLst/>
              </a:prstGeom>
              <a:blipFill>
                <a:blip r:embed="rId4"/>
                <a:stretch>
                  <a:fillRect l="-1064" t="-3774" b="-1886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Arc 1">
            <a:extLst>
              <a:ext uri="{FF2B5EF4-FFF2-40B4-BE49-F238E27FC236}">
                <a16:creationId xmlns:a16="http://schemas.microsoft.com/office/drawing/2014/main" id="{9BDAD647-A833-3824-F672-1A7086D966D1}"/>
              </a:ext>
            </a:extLst>
          </p:cNvPr>
          <p:cNvSpPr/>
          <p:nvPr/>
        </p:nvSpPr>
        <p:spPr>
          <a:xfrm>
            <a:off x="2762250" y="3793896"/>
            <a:ext cx="952500" cy="651154"/>
          </a:xfrm>
          <a:custGeom>
            <a:avLst/>
            <a:gdLst/>
            <a:ahLst/>
            <a:cxnLst/>
            <a:rect l="0" t="0" r="0" b="0"/>
            <a:pathLst>
              <a:path w="952500" h="651154">
                <a:moveTo>
                  <a:pt x="0" y="651154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1" name="Delta 1">
            <a:extLst>
              <a:ext uri="{FF2B5EF4-FFF2-40B4-BE49-F238E27FC236}">
                <a16:creationId xmlns:a16="http://schemas.microsoft.com/office/drawing/2014/main" id="{FAA4D141-A682-488B-6623-674C66526B4C}"/>
              </a:ext>
            </a:extLst>
          </p:cNvPr>
          <p:cNvSpPr txBox="1"/>
          <p:nvPr/>
        </p:nvSpPr>
        <p:spPr>
          <a:xfrm>
            <a:off x="2794000" y="3690976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+18%</a:t>
            </a:r>
          </a:p>
        </p:txBody>
      </p:sp>
      <p:sp>
        <p:nvSpPr>
          <p:cNvPr id="122" name="Arc 2">
            <a:extLst>
              <a:ext uri="{FF2B5EF4-FFF2-40B4-BE49-F238E27FC236}">
                <a16:creationId xmlns:a16="http://schemas.microsoft.com/office/drawing/2014/main" id="{919E2E4B-40ED-CF96-02A4-7A35387E0DC8}"/>
              </a:ext>
            </a:extLst>
          </p:cNvPr>
          <p:cNvSpPr/>
          <p:nvPr/>
        </p:nvSpPr>
        <p:spPr>
          <a:xfrm>
            <a:off x="4349750" y="3627018"/>
            <a:ext cx="952500" cy="573278"/>
          </a:xfrm>
          <a:custGeom>
            <a:avLst/>
            <a:gdLst/>
            <a:ahLst/>
            <a:cxnLst/>
            <a:rect l="0" t="0" r="0" b="0"/>
            <a:pathLst>
              <a:path w="952500" h="573278">
                <a:moveTo>
                  <a:pt x="0" y="573278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3" name="Delta 2">
            <a:extLst>
              <a:ext uri="{FF2B5EF4-FFF2-40B4-BE49-F238E27FC236}">
                <a16:creationId xmlns:a16="http://schemas.microsoft.com/office/drawing/2014/main" id="{CB266FC3-41A4-CCED-694F-5DE320C9CABC}"/>
              </a:ext>
            </a:extLst>
          </p:cNvPr>
          <p:cNvSpPr txBox="1"/>
          <p:nvPr/>
        </p:nvSpPr>
        <p:spPr>
          <a:xfrm>
            <a:off x="4381500" y="3492373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+10%</a:t>
            </a:r>
          </a:p>
        </p:txBody>
      </p:sp>
      <p:sp>
        <p:nvSpPr>
          <p:cNvPr id="124" name="Arc 3">
            <a:extLst>
              <a:ext uri="{FF2B5EF4-FFF2-40B4-BE49-F238E27FC236}">
                <a16:creationId xmlns:a16="http://schemas.microsoft.com/office/drawing/2014/main" id="{587018D0-C32B-FAA4-3E49-25592A2F9E35}"/>
              </a:ext>
            </a:extLst>
          </p:cNvPr>
          <p:cNvSpPr/>
          <p:nvPr/>
        </p:nvSpPr>
        <p:spPr>
          <a:xfrm>
            <a:off x="5937250" y="3563976"/>
            <a:ext cx="952500" cy="469443"/>
          </a:xfrm>
          <a:custGeom>
            <a:avLst/>
            <a:gdLst/>
            <a:ahLst/>
            <a:cxnLst/>
            <a:rect l="0" t="0" r="0" b="0"/>
            <a:pathLst>
              <a:path w="952500" h="469443">
                <a:moveTo>
                  <a:pt x="0" y="469443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5" name="Delta 3">
            <a:extLst>
              <a:ext uri="{FF2B5EF4-FFF2-40B4-BE49-F238E27FC236}">
                <a16:creationId xmlns:a16="http://schemas.microsoft.com/office/drawing/2014/main" id="{9797F9F1-2786-ED0E-5C24-984ED2140A8C}"/>
              </a:ext>
            </a:extLst>
          </p:cNvPr>
          <p:cNvSpPr txBox="1"/>
          <p:nvPr/>
        </p:nvSpPr>
        <p:spPr>
          <a:xfrm>
            <a:off x="5969000" y="3416275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+4%</a:t>
            </a:r>
          </a:p>
        </p:txBody>
      </p:sp>
      <p:sp>
        <p:nvSpPr>
          <p:cNvPr id="126" name="Arc 4">
            <a:extLst>
              <a:ext uri="{FF2B5EF4-FFF2-40B4-BE49-F238E27FC236}">
                <a16:creationId xmlns:a16="http://schemas.microsoft.com/office/drawing/2014/main" id="{78996168-8EA9-AD09-476E-E786AD5D1533}"/>
              </a:ext>
            </a:extLst>
          </p:cNvPr>
          <p:cNvSpPr/>
          <p:nvPr/>
        </p:nvSpPr>
        <p:spPr>
          <a:xfrm>
            <a:off x="7524750" y="3167177"/>
            <a:ext cx="952500" cy="803199"/>
          </a:xfrm>
          <a:custGeom>
            <a:avLst/>
            <a:gdLst/>
            <a:ahLst/>
            <a:cxnLst/>
            <a:rect l="0" t="0" r="0" b="0"/>
            <a:pathLst>
              <a:path w="952500" h="803199">
                <a:moveTo>
                  <a:pt x="0" y="803199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7" name="Delta 4">
            <a:extLst>
              <a:ext uri="{FF2B5EF4-FFF2-40B4-BE49-F238E27FC236}">
                <a16:creationId xmlns:a16="http://schemas.microsoft.com/office/drawing/2014/main" id="{42B2F786-8335-9BA8-AF15-FEAE81900326}"/>
              </a:ext>
            </a:extLst>
          </p:cNvPr>
          <p:cNvSpPr txBox="1"/>
          <p:nvPr/>
        </p:nvSpPr>
        <p:spPr>
          <a:xfrm>
            <a:off x="7556500" y="3027477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+22%</a:t>
            </a:r>
          </a:p>
        </p:txBody>
      </p:sp>
      <p:sp>
        <p:nvSpPr>
          <p:cNvPr id="128" name="Arc 5">
            <a:extLst>
              <a:ext uri="{FF2B5EF4-FFF2-40B4-BE49-F238E27FC236}">
                <a16:creationId xmlns:a16="http://schemas.microsoft.com/office/drawing/2014/main" id="{22CD4409-3FD9-F35E-4E18-3DA848299CF1}"/>
              </a:ext>
            </a:extLst>
          </p:cNvPr>
          <p:cNvSpPr/>
          <p:nvPr/>
        </p:nvSpPr>
        <p:spPr>
          <a:xfrm>
            <a:off x="9112250" y="2306828"/>
            <a:ext cx="952500" cy="1266749"/>
          </a:xfrm>
          <a:custGeom>
            <a:avLst/>
            <a:gdLst/>
            <a:ahLst/>
            <a:cxnLst/>
            <a:rect l="0" t="0" r="0" b="0"/>
            <a:pathLst>
              <a:path w="952500" h="1266749">
                <a:moveTo>
                  <a:pt x="0" y="1266749"/>
                </a:moveTo>
                <a:quadBezTo>
                  <a:pt x="476250" y="0"/>
                  <a:pt x="952500" y="406400"/>
                </a:quadBezTo>
              </a:path>
            </a:pathLst>
          </a:custGeom>
          <a:noFill/>
          <a:ln w="19050" cap="rnd">
            <a:solidFill>
              <a:srgbClr val="E97132"/>
            </a:solidFill>
            <a:round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129" name="Delta 5">
            <a:extLst>
              <a:ext uri="{FF2B5EF4-FFF2-40B4-BE49-F238E27FC236}">
                <a16:creationId xmlns:a16="http://schemas.microsoft.com/office/drawing/2014/main" id="{76EF9CC9-F62C-FC6A-D042-C9EEE4273419}"/>
              </a:ext>
            </a:extLst>
          </p:cNvPr>
          <p:cNvSpPr txBox="1"/>
          <p:nvPr/>
        </p:nvSpPr>
        <p:spPr>
          <a:xfrm>
            <a:off x="9346635" y="2313406"/>
            <a:ext cx="64120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Calibri" pitchFamily="34" charset="0"/>
              </a:rPr>
              <a:t>+40-80%</a:t>
            </a:r>
          </a:p>
        </p:txBody>
      </p:sp>
    </p:spTree>
    <p:extLst>
      <p:ext uri="{BB962C8B-B14F-4D97-AF65-F5344CB8AC3E}">
        <p14:creationId xmlns:p14="http://schemas.microsoft.com/office/powerpoint/2010/main" val="1365599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8B6C9-2052-0FCC-308E-DF33FA81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D24BC0-1092-9275-EA2F-C9D08B292A2B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STEP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6C9A9E-205F-492E-7D39-12CEA9318647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all techniques leapfrogs baselines.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A97BF0-9295-42C3-8D9B-10060B534C2E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model, LoRA-trained on ShareGPT · tokens per step on SpecBench (Xia et al., 2024) · RTX 6000.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3283DB-BC75-7E5A-787F-02B0939DE503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C76D864F-0F14-503E-4772-BC93633ADB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5184454"/>
              </p:ext>
            </p:extLst>
          </p:nvPr>
        </p:nvGraphicFramePr>
        <p:xfrm>
          <a:off x="658368" y="2084832"/>
          <a:ext cx="8183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4328EA3A-E672-F510-BBBB-3D465D6D142D}"/>
              </a:ext>
            </a:extLst>
          </p:cNvPr>
          <p:cNvSpPr/>
          <p:nvPr/>
        </p:nvSpPr>
        <p:spPr>
          <a:xfrm>
            <a:off x="9189720" y="3063240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A02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222A6B2-C4AB-C9DF-ADAF-6CCE26165093}"/>
              </a:ext>
            </a:extLst>
          </p:cNvPr>
          <p:cNvSpPr/>
          <p:nvPr/>
        </p:nvSpPr>
        <p:spPr>
          <a:xfrm>
            <a:off x="9555480" y="296265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5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1EA7F5B-C03C-5F6A-BCE0-A7BF19DF926B}"/>
              </a:ext>
            </a:extLst>
          </p:cNvPr>
          <p:cNvSpPr/>
          <p:nvPr/>
        </p:nvSpPr>
        <p:spPr>
          <a:xfrm>
            <a:off x="9189720" y="3630168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D76E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704113A-D704-3AB8-D31F-B06277CB8C1A}"/>
              </a:ext>
            </a:extLst>
          </p:cNvPr>
          <p:cNvSpPr/>
          <p:nvPr/>
        </p:nvSpPr>
        <p:spPr>
          <a:xfrm>
            <a:off x="9555480" y="35295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Component</a:t>
            </a:r>
            <a:endParaRPr lang="en-US" sz="15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F6BBADB-DBD2-EAF7-A0EB-1BE344B70FB5}"/>
              </a:ext>
            </a:extLst>
          </p:cNvPr>
          <p:cNvSpPr/>
          <p:nvPr/>
        </p:nvSpPr>
        <p:spPr>
          <a:xfrm>
            <a:off x="9189720" y="4197096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FF5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570BC6A-9709-0BEC-FEAF-39D1EF25A263}"/>
              </a:ext>
            </a:extLst>
          </p:cNvPr>
          <p:cNvSpPr/>
          <p:nvPr/>
        </p:nvSpPr>
        <p:spPr>
          <a:xfrm>
            <a:off x="9555480" y="4096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Prediction</a:t>
            </a:r>
            <a:endParaRPr lang="en-US" sz="15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3B3CA5C-BDED-F42C-7FB2-261427FC3979}"/>
              </a:ext>
            </a:extLst>
          </p:cNvPr>
          <p:cNvSpPr/>
          <p:nvPr/>
        </p:nvSpPr>
        <p:spPr>
          <a:xfrm>
            <a:off x="9189720" y="4764024"/>
            <a:ext cx="237744" cy="237744"/>
          </a:xfrm>
          <a:prstGeom prst="roundRect">
            <a:avLst>
              <a:gd name="adj" fmla="val 11538"/>
            </a:avLst>
          </a:prstGeom>
          <a:solidFill>
            <a:srgbClr val="0F9E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EBCB114-F1F4-2C24-EC59-FCC5EACA3815}"/>
              </a:ext>
            </a:extLst>
          </p:cNvPr>
          <p:cNvSpPr/>
          <p:nvPr/>
        </p:nvSpPr>
        <p:spPr>
          <a:xfrm>
            <a:off x="9555480" y="4663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 Prediction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57429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08017-454E-8E84-4C3E-429DE105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B80461-B62C-AA67-43A1-70104A681AEF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801CD2-FA1D-9C45-ED70-434AA9FBEDA0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examples.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2DEE06-AC18-27B6-6F7E-63D7FF75ED8C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an engaging travel blog post about a recent trip to Hawaii, highlighting cultural experiences and must-see attractions.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2ACC14-2D24-4A27-A704-D9894BD4D9A6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DCFB6-ECB3-9D03-85A3-9314E934F315}"/>
              </a:ext>
            </a:extLst>
          </p:cNvPr>
          <p:cNvSpPr txBox="1"/>
          <p:nvPr/>
        </p:nvSpPr>
        <p:spPr>
          <a:xfrm>
            <a:off x="658368" y="1889218"/>
            <a:ext cx="102298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Title: Discovering the Beauty of Hawaii: A Cultural Journey</a:t>
            </a:r>
            <a:r>
              <a:rPr lang="en-US" sz="1200" dirty="0"/>
              <a:t>                                                         </a:t>
            </a:r>
          </a:p>
          <a:p>
            <a:r>
              <a:rPr lang="en-US" sz="1200" b="1" dirty="0"/>
              <a:t>Introduction:                                                                                                       </a:t>
            </a:r>
          </a:p>
          <a:p>
            <a:r>
              <a:rPr lang="en-US" sz="1200" dirty="0"/>
              <a:t>Hawaii, a tropical paradise located in the Pacific Ocean, has been a dream destination for many. The archipelago is known for its stunning beaches, lush rainforests, and rich cultural heritage. In this blog post, we'll explore the cultural experiences and must-see attractions that made our recent trip to Hawaii an unforgettable adventure.       </a:t>
            </a:r>
          </a:p>
          <a:p>
            <a:r>
              <a:rPr lang="en-US" sz="1200" dirty="0"/>
              <a:t>                                                                                                                 </a:t>
            </a:r>
          </a:p>
          <a:p>
            <a:r>
              <a:rPr lang="en-US" sz="1200" b="1" dirty="0"/>
              <a:t>Day 1: Oahu                                                                                                         </a:t>
            </a:r>
          </a:p>
          <a:p>
            <a:r>
              <a:rPr lang="en-US" sz="1200" dirty="0"/>
              <a:t>- Visited the USS Arizona Memorial at Pearl Harbor, a solemn reminder of the sacrifices made during World War II.   </a:t>
            </a:r>
          </a:p>
          <a:p>
            <a:r>
              <a:rPr lang="en-US" sz="1200" dirty="0"/>
              <a:t>- Explored the Polynesian Cultural Center, where we witnessed traditional dances and learned about the unique cultures of different islands in the Pacific.                                                                       </a:t>
            </a:r>
          </a:p>
          <a:p>
            <a:r>
              <a:rPr lang="en-US" sz="1200" dirty="0"/>
              <a:t>- Enjoyed a delicious luau dinner, complete with authentic Hawaiian cuisine and live music.                         </a:t>
            </a:r>
          </a:p>
          <a:p>
            <a:r>
              <a:rPr lang="en-US" sz="1200" dirty="0"/>
              <a:t>                                                                                                                     </a:t>
            </a:r>
          </a:p>
          <a:p>
            <a:r>
              <a:rPr lang="en-US" sz="1200" b="1" dirty="0"/>
              <a:t>Day 2: Maui                                                                                                         </a:t>
            </a:r>
          </a:p>
          <a:p>
            <a:r>
              <a:rPr lang="en-US" sz="1200" dirty="0"/>
              <a:t>- Took a scenic drive through the island's lush landscapes, including the famous Haleakala National Park.           </a:t>
            </a:r>
          </a:p>
          <a:p>
            <a:r>
              <a:rPr lang="en-US" sz="1200" dirty="0"/>
              <a:t>- Visited the </a:t>
            </a:r>
            <a:r>
              <a:rPr lang="en-US" sz="1200" dirty="0" err="1"/>
              <a:t>Makalii</a:t>
            </a:r>
            <a:r>
              <a:rPr lang="en-US" sz="1200" dirty="0"/>
              <a:t> Center, where we learned about the history and culture of the Maui people.                    </a:t>
            </a:r>
          </a:p>
          <a:p>
            <a:r>
              <a:rPr lang="en-US" sz="1200" dirty="0"/>
              <a:t>- Relaxed on the beach and snorkeling in the crystal-clear waters to see the colorful fish and coral reefs.         </a:t>
            </a:r>
          </a:p>
          <a:p>
            <a:r>
              <a:rPr lang="en-US" sz="1200" dirty="0"/>
              <a:t>                                                                                                                       </a:t>
            </a:r>
          </a:p>
          <a:p>
            <a:r>
              <a:rPr lang="en-US" sz="1200" b="1" dirty="0"/>
              <a:t>Day 3: Big Island                                                                                                   </a:t>
            </a:r>
          </a:p>
          <a:p>
            <a:r>
              <a:rPr lang="en-US" sz="1200" dirty="0"/>
              <a:t>- Took a tour of the Hawaii Volcanoes National Park, where we saw the Kilauea Volcano and the Steam Vent.           </a:t>
            </a:r>
          </a:p>
          <a:p>
            <a:r>
              <a:rPr lang="en-US" sz="1200" dirty="0"/>
              <a:t>- Visited the Hapuna Beach, a picturesque beach with white sand and clear blue waters.                              </a:t>
            </a:r>
          </a:p>
          <a:p>
            <a:r>
              <a:rPr lang="en-US" sz="1200" dirty="0"/>
              <a:t>- Explored the Hawaiian Royal Gardens, where we learned about traditional Hawaiian plants and their uses.           </a:t>
            </a:r>
          </a:p>
          <a:p>
            <a:r>
              <a:rPr lang="en-US" sz="1200" dirty="0"/>
              <a:t>                                                                                                                     </a:t>
            </a:r>
          </a:p>
          <a:p>
            <a:r>
              <a:rPr lang="en-US" sz="1200" b="1" dirty="0"/>
              <a:t>Day 4: Kauai                                                                                                        </a:t>
            </a:r>
          </a:p>
          <a:p>
            <a:r>
              <a:rPr lang="en-US" sz="1200" dirty="0"/>
              <a:t>- Took a scenic flight over the island, providing breathtaking views of the Na Pali Coastline.                      </a:t>
            </a:r>
          </a:p>
          <a:p>
            <a:r>
              <a:rPr lang="en-US" sz="1200" dirty="0"/>
              <a:t>- Visited the Hanalei Bay, a stunning beach with crystal-clear waters and lush greenery.</a:t>
            </a:r>
          </a:p>
        </p:txBody>
      </p:sp>
    </p:spTree>
    <p:extLst>
      <p:ext uri="{BB962C8B-B14F-4D97-AF65-F5344CB8AC3E}">
        <p14:creationId xmlns:p14="http://schemas.microsoft.com/office/powerpoint/2010/main" val="304716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2DB08-C230-A029-586C-033DD459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120774-5353-607B-246A-686DCA119CA7}"/>
              </a:ext>
            </a:extLst>
          </p:cNvPr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4754B8-B0FF-B14D-896A-AAF7B98B31C0}"/>
              </a:ext>
            </a:extLst>
          </p:cNvPr>
          <p:cNvSpPr/>
          <p:nvPr/>
        </p:nvSpPr>
        <p:spPr>
          <a:xfrm>
            <a:off x="658368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examples.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2B2E41-A20D-B8E0-71AD-42C09BA09EA7}"/>
              </a:ext>
            </a:extLst>
          </p:cNvPr>
          <p:cNvSpPr/>
          <p:nvPr/>
        </p:nvSpPr>
        <p:spPr>
          <a:xfrm>
            <a:off x="676656" y="133502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to find the nth Fibonacci number using recursion.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A45055-DF76-38E3-987C-5B08EC5D0116}"/>
              </a:ext>
            </a:extLst>
          </p:cNvPr>
          <p:cNvSpPr/>
          <p:nvPr/>
        </p:nvSpPr>
        <p:spPr>
          <a:xfrm>
            <a:off x="457200" y="1810512"/>
            <a:ext cx="11277295" cy="468172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CAC01-D815-9627-317E-BE735688FA61}"/>
              </a:ext>
            </a:extLst>
          </p:cNvPr>
          <p:cNvSpPr txBox="1"/>
          <p:nvPr/>
        </p:nvSpPr>
        <p:spPr>
          <a:xfrm>
            <a:off x="581025" y="1889218"/>
            <a:ext cx="102298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 #include &lt;iostream&gt;                                                                                                   </a:t>
            </a:r>
          </a:p>
          <a:p>
            <a:r>
              <a:rPr lang="en-US" sz="1600" dirty="0"/>
              <a:t>  using namespace std;                                                                                                  </a:t>
            </a:r>
          </a:p>
          <a:p>
            <a:r>
              <a:rPr lang="en-US" sz="1600" dirty="0"/>
              <a:t>                                                                                                                        </a:t>
            </a:r>
          </a:p>
          <a:p>
            <a:r>
              <a:rPr lang="en-US" sz="1600" dirty="0"/>
              <a:t>  int </a:t>
            </a:r>
            <a:r>
              <a:rPr lang="en-US" sz="1600" dirty="0" err="1"/>
              <a:t>fibonacci</a:t>
            </a:r>
            <a:r>
              <a:rPr lang="en-US" sz="1600" dirty="0"/>
              <a:t>(int n) {                                                                                                </a:t>
            </a:r>
          </a:p>
          <a:p>
            <a:r>
              <a:rPr lang="en-US" sz="1600" dirty="0"/>
              <a:t>      if (n == 0 || n == 1) return n;                                                                                   </a:t>
            </a:r>
          </a:p>
          <a:p>
            <a:r>
              <a:rPr lang="en-US" sz="1600" dirty="0"/>
              <a:t>      return </a:t>
            </a:r>
            <a:r>
              <a:rPr lang="en-US" sz="1600" dirty="0" err="1"/>
              <a:t>fibonacci</a:t>
            </a:r>
            <a:r>
              <a:rPr lang="en-US" sz="1600" dirty="0"/>
              <a:t>(n-1) + </a:t>
            </a:r>
            <a:r>
              <a:rPr lang="en-US" sz="1600" dirty="0" err="1"/>
              <a:t>fibonacci</a:t>
            </a:r>
            <a:r>
              <a:rPr lang="en-US" sz="1600" dirty="0"/>
              <a:t>(n-2);                                                                           </a:t>
            </a:r>
          </a:p>
          <a:p>
            <a:r>
              <a:rPr lang="en-US" sz="1600" dirty="0"/>
              <a:t>  }                                                                                                                     </a:t>
            </a:r>
          </a:p>
          <a:p>
            <a:r>
              <a:rPr lang="en-US" sz="1600" dirty="0"/>
              <a:t>                                                                                                                        </a:t>
            </a:r>
          </a:p>
          <a:p>
            <a:r>
              <a:rPr lang="en-US" sz="1600" dirty="0"/>
              <a:t>  int main() {                                                                                                          </a:t>
            </a:r>
          </a:p>
          <a:p>
            <a:r>
              <a:rPr lang="en-US" sz="1600" dirty="0"/>
              <a:t>      int num;                                                                                                          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cout</a:t>
            </a:r>
            <a:r>
              <a:rPr lang="en-US" sz="1600" dirty="0"/>
              <a:t> &lt;&lt; "Enter the number of Fibonacci numbers you want to find: ";                                               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cin</a:t>
            </a:r>
            <a:r>
              <a:rPr lang="en-US" sz="1600" dirty="0"/>
              <a:t> &gt;&gt; num;                                                                                                       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cout</a:t>
            </a:r>
            <a:r>
              <a:rPr lang="en-US" sz="1600" dirty="0"/>
              <a:t> &lt;&lt; "Fibonacci numbers: ";                                                                                    </a:t>
            </a:r>
          </a:p>
          <a:p>
            <a:r>
              <a:rPr lang="en-US" sz="1600" dirty="0"/>
              <a:t>      for 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num; </a:t>
            </a:r>
            <a:r>
              <a:rPr lang="en-US" sz="1600" dirty="0" err="1"/>
              <a:t>i</a:t>
            </a:r>
            <a:r>
              <a:rPr lang="en-US" sz="1600" dirty="0"/>
              <a:t>++) {                                                                                   </a:t>
            </a:r>
          </a:p>
          <a:p>
            <a:r>
              <a:rPr lang="en-US" sz="1600" dirty="0"/>
              <a:t>          </a:t>
            </a:r>
            <a:r>
              <a:rPr lang="en-US" sz="1600" dirty="0" err="1"/>
              <a:t>cout</a:t>
            </a:r>
            <a:r>
              <a:rPr lang="en-US" sz="1600" dirty="0"/>
              <a:t> &lt;&lt; </a:t>
            </a:r>
            <a:r>
              <a:rPr lang="en-US" sz="1600" dirty="0" err="1"/>
              <a:t>fibonacci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) &lt;&lt; " ";                                                                                  </a:t>
            </a:r>
          </a:p>
          <a:p>
            <a:r>
              <a:rPr lang="en-US" sz="1600" dirty="0"/>
              <a:t>      }                                                                                                                 </a:t>
            </a:r>
          </a:p>
          <a:p>
            <a:r>
              <a:rPr lang="en-US" sz="1600" dirty="0"/>
              <a:t>      return 0;                                                                                                         </a:t>
            </a:r>
          </a:p>
          <a:p>
            <a:r>
              <a:rPr lang="en-US" sz="1600" dirty="0"/>
              <a:t>  } </a:t>
            </a:r>
          </a:p>
        </p:txBody>
      </p:sp>
    </p:spTree>
    <p:extLst>
      <p:ext uri="{BB962C8B-B14F-4D97-AF65-F5344CB8AC3E}">
        <p14:creationId xmlns:p14="http://schemas.microsoft.com/office/powerpoint/2010/main" val="3529664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94BE47-DB1E-4829-A0BB-A599FF80F38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34cc9fa7-e8c4-40f3-ba12-a298ab4741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1363</Words>
  <Application>Microsoft Office PowerPoint</Application>
  <PresentationFormat>Widescreen</PresentationFormat>
  <Paragraphs>335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Justus Will</cp:lastModifiedBy>
  <cp:revision>2</cp:revision>
  <dcterms:created xsi:type="dcterms:W3CDTF">2026-08-19T02:14:54Z</dcterms:created>
  <dcterms:modified xsi:type="dcterms:W3CDTF">2026-08-19T21:02:17Z</dcterms:modified>
</cp:coreProperties>
</file>